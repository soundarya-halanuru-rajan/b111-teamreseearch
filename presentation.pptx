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2"/>
  </p:notesMasterIdLst>
  <p:handoutMasterIdLst>
    <p:handoutMasterId r:id="rId13"/>
  </p:handoutMasterIdLst>
  <p:sldIdLst>
    <p:sldId id="289" r:id="rId5"/>
    <p:sldId id="340" r:id="rId6"/>
    <p:sldId id="329" r:id="rId7"/>
    <p:sldId id="336" r:id="rId8"/>
    <p:sldId id="341" r:id="rId9"/>
    <p:sldId id="342" r:id="rId10"/>
    <p:sldId id="343"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69D14E6-08DF-4727-B0B6-8E7B301767AA}" v="5" dt="2025-11-18T13:18:40.833"/>
    <p1510:client id="{F32A8078-3ADC-47B2-998C-02A067C0899C}" v="26" dt="2025-11-17T20:45:11.9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handoutMaster" Target="handoutMasters/handoutMaster1.xml"/><Relationship Id="rId18"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viewProps" Target="view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18/11/2025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18/11/2025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2</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err="1"/>
              <a:t>likert</a:t>
            </a:r>
            <a:r>
              <a:rPr lang="en-GB"/>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a:p>
          <a:p>
            <a:r>
              <a:rPr lang="en-GB"/>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6679849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5</a:t>
            </a:fld>
            <a:endParaRPr lang="en-GB"/>
          </a:p>
        </p:txBody>
      </p:sp>
    </p:spTree>
    <p:extLst>
      <p:ext uri="{BB962C8B-B14F-4D97-AF65-F5344CB8AC3E}">
        <p14:creationId xmlns:p14="http://schemas.microsoft.com/office/powerpoint/2010/main" val="393942928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19 – 11 – 2025 </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a:xfrm>
            <a:off x="954000" y="1908288"/>
            <a:ext cx="11308104" cy="360000"/>
          </a:xfrm>
        </p:spPr>
        <p:txBody>
          <a:bodyPr/>
          <a:lstStyle/>
          <a:p>
            <a:r>
              <a:rPr lang="en-US" sz="2000" dirty="0"/>
              <a:t>Group Name:   B111                                  Name of Student Presenting: Soundarya Halanuru Rajan</a:t>
            </a:r>
            <a:r>
              <a:rPr lang="en-GB" sz="2000" dirty="0"/>
              <a:t>	</a:t>
            </a:r>
            <a:br>
              <a:rPr lang="en-GB" sz="2000" dirty="0"/>
            </a:br>
            <a:br>
              <a:rPr lang="en-GB" sz="2000" dirty="0"/>
            </a:br>
            <a:r>
              <a:rPr lang="en-GB" sz="2000" dirty="0"/>
              <a:t>		 						  </a:t>
            </a:r>
          </a:p>
          <a:p>
            <a:endParaRPr lang="en-US" sz="2000" dirty="0"/>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965289" y="274320"/>
            <a:ext cx="11113935" cy="1499616"/>
          </a:xfrm>
        </p:spPr>
        <p:txBody>
          <a:bodyPr/>
          <a:lstStyle/>
          <a:p>
            <a:r>
              <a:rPr lang="en-GB" dirty="0"/>
              <a:t>7COM1079-2025  Student Group No: B111                   Names of Student Attendees : Soundarya Halanuru Rajan – 23109295</a:t>
            </a:r>
          </a:p>
          <a:p>
            <a:r>
              <a:rPr lang="en-GB" dirty="0"/>
              <a:t>                                                    					                Muhammad Farooqi - 23108251</a:t>
            </a:r>
          </a:p>
          <a:p>
            <a:r>
              <a:rPr lang="en-GB" dirty="0"/>
              <a:t>							                Sangam Balakrishna - 23113892									                Nithish - </a:t>
            </a:r>
            <a:r>
              <a:rPr lang="en-IN" dirty="0"/>
              <a:t>23105965</a:t>
            </a:r>
            <a:endParaRPr lang="en-GB" dirty="0"/>
          </a:p>
          <a:p>
            <a:r>
              <a:rPr lang="en-GB" dirty="0"/>
              <a:t>							                Pranay Nani - </a:t>
            </a:r>
          </a:p>
          <a:p>
            <a:r>
              <a:rPr lang="en-GB" dirty="0"/>
              <a:t>							                </a:t>
            </a:r>
          </a:p>
        </p:txBody>
      </p:sp>
    </p:spTree>
    <p:extLst>
      <p:ext uri="{BB962C8B-B14F-4D97-AF65-F5344CB8AC3E}">
        <p14:creationId xmlns:p14="http://schemas.microsoft.com/office/powerpoint/2010/main" val="41485325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147638"/>
            <a:ext cx="9753625" cy="230832"/>
          </a:xfrm>
        </p:spPr>
        <p:txBody>
          <a:bodyPr vert="horz" lIns="0" tIns="0" rIns="0" bIns="0" rtlCol="0" anchor="t">
            <a:noAutofit/>
          </a:bodyPr>
          <a:lstStyle/>
          <a:p>
            <a:pPr>
              <a:spcAft>
                <a:spcPts val="0"/>
              </a:spcAft>
            </a:pPr>
            <a:r>
              <a:rPr lang="en-GB" dirty="0">
                <a:solidFill>
                  <a:srgbClr val="203232"/>
                </a:solidFill>
                <a:cs typeface="Arial"/>
              </a:rPr>
              <a:t>Here is a sample of our dataset: </a:t>
            </a:r>
            <a:endParaRPr lang="en-GB" sz="1800" dirty="0">
              <a:solidFill>
                <a:srgbClr val="FF0000"/>
              </a:solidFill>
              <a:cs typeface="Aria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859179" y="560190"/>
            <a:ext cx="7176911" cy="230832"/>
          </a:xfrm>
        </p:spPr>
        <p:txBody>
          <a:bodyPr/>
          <a:lstStyle/>
          <a:p>
            <a:r>
              <a:rPr lang="en-GB" dirty="0"/>
              <a:t>PRE 7COM1079-2025  Student Group No:  B111</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859179" y="1674146"/>
            <a:ext cx="9965844" cy="2649857"/>
          </a:xfrm>
        </p:spPr>
        <p:txBody>
          <a:bodyPr>
            <a:normAutofit fontScale="90000"/>
          </a:bodyPr>
          <a:lstStyle/>
          <a:p>
            <a:pPr marL="742950" indent="-742950">
              <a:lnSpc>
                <a:spcPts val="2880"/>
              </a:lnSpc>
              <a:spcBef>
                <a:spcPts val="0"/>
              </a:spcBef>
              <a:spcAft>
                <a:spcPts val="992"/>
              </a:spcAft>
              <a:buAutoNum type="arabicPeriod"/>
            </a:pPr>
            <a:r>
              <a:rPr lang="en-GB" sz="2200" dirty="0">
                <a:solidFill>
                  <a:srgbClr val="FF0000"/>
                </a:solidFill>
                <a:latin typeface="Times New Roman" panose="02020603050405020304" pitchFamily="18" charset="0"/>
                <a:cs typeface="Times New Roman" panose="02020603050405020304" pitchFamily="18" charset="0"/>
              </a:rPr>
              <a:t>The columns/variable names you include in your research question.</a:t>
            </a:r>
            <a:br>
              <a:rPr lang="en-GB" sz="2000" dirty="0">
                <a:solidFill>
                  <a:srgbClr val="FF0000"/>
                </a:solidFill>
                <a:latin typeface="Times New Roman" panose="02020603050405020304" pitchFamily="18" charset="0"/>
                <a:cs typeface="Times New Roman" panose="02020603050405020304" pitchFamily="18" charset="0"/>
              </a:rPr>
            </a:br>
            <a:r>
              <a:rPr lang="en-GB" sz="2000" b="0" dirty="0">
                <a:latin typeface="Times New Roman" panose="02020603050405020304" pitchFamily="18" charset="0"/>
                <a:cs typeface="Times New Roman" panose="02020603050405020304" pitchFamily="18" charset="0"/>
              </a:rPr>
              <a:t>Happiness Score and Economy (GDP per Capita)</a:t>
            </a:r>
            <a:endParaRPr lang="en-US" sz="2000" b="0" dirty="0">
              <a:latin typeface="Times New Roman" panose="02020603050405020304" pitchFamily="18" charset="0"/>
              <a:cs typeface="Times New Roman" panose="02020603050405020304" pitchFamily="18" charset="0"/>
            </a:endParaRPr>
          </a:p>
          <a:p>
            <a:pPr marL="742950" indent="-742950">
              <a:lnSpc>
                <a:spcPts val="2880"/>
              </a:lnSpc>
              <a:spcBef>
                <a:spcPts val="0"/>
              </a:spcBef>
              <a:spcAft>
                <a:spcPts val="992"/>
              </a:spcAft>
              <a:buAutoNum type="arabicPeriod"/>
            </a:pPr>
            <a:r>
              <a:rPr lang="en-GB" sz="2000" dirty="0">
                <a:solidFill>
                  <a:srgbClr val="FF0000"/>
                </a:solidFill>
                <a:latin typeface="Times New Roman" panose="02020603050405020304" pitchFamily="18" charset="0"/>
                <a:cs typeface="Times New Roman" panose="02020603050405020304" pitchFamily="18" charset="0"/>
              </a:rPr>
              <a:t>At least 5 rows of the data :</a:t>
            </a:r>
            <a:br>
              <a:rPr lang="en-GB" sz="3100" dirty="0">
                <a:solidFill>
                  <a:srgbClr val="FF0000"/>
                </a:solidFill>
                <a:latin typeface="Times New Roman" panose="02020603050405020304" pitchFamily="18" charset="0"/>
                <a:cs typeface="Times New Roman" panose="02020603050405020304" pitchFamily="18" charset="0"/>
              </a:rPr>
            </a:br>
            <a:br>
              <a:rPr lang="en-GB" sz="3100" dirty="0">
                <a:solidFill>
                  <a:srgbClr val="FF0000"/>
                </a:solidFill>
                <a:latin typeface="Times New Roman" panose="02020603050405020304" pitchFamily="18" charset="0"/>
                <a:cs typeface="Times New Roman" panose="02020603050405020304" pitchFamily="18" charset="0"/>
              </a:rPr>
            </a:br>
            <a:br>
              <a:rPr lang="en-GB" sz="3100" dirty="0">
                <a:solidFill>
                  <a:srgbClr val="FF0000"/>
                </a:solidFill>
                <a:latin typeface="Times New Roman" panose="02020603050405020304" pitchFamily="18" charset="0"/>
                <a:cs typeface="Times New Roman" panose="02020603050405020304" pitchFamily="18" charset="0"/>
              </a:rPr>
            </a:br>
            <a:br>
              <a:rPr lang="en-GB" sz="3100" dirty="0">
                <a:solidFill>
                  <a:srgbClr val="FF0000"/>
                </a:solidFill>
                <a:latin typeface="Times New Roman" panose="02020603050405020304" pitchFamily="18" charset="0"/>
                <a:cs typeface="Times New Roman" panose="02020603050405020304" pitchFamily="18" charset="0"/>
              </a:rPr>
            </a:br>
            <a:endParaRPr lang="en-US" sz="3100" b="0" dirty="0">
              <a:solidFill>
                <a:srgbClr val="FF0000"/>
              </a:solidFill>
              <a:latin typeface="Times New Roman" panose="02020603050405020304" pitchFamily="18" charset="0"/>
              <a:cs typeface="Times New Roman" panose="02020603050405020304" pitchFamily="18" charset="0"/>
            </a:endParaRPr>
          </a:p>
          <a:p>
            <a:pPr marL="742950" indent="-742950">
              <a:lnSpc>
                <a:spcPts val="2880"/>
              </a:lnSpc>
              <a:spcBef>
                <a:spcPts val="0"/>
              </a:spcBef>
              <a:spcAft>
                <a:spcPts val="992"/>
              </a:spcAft>
              <a:buAutoNum type="arabicPeriod"/>
            </a:pPr>
            <a:r>
              <a:rPr lang="en-GB" sz="2000" dirty="0">
                <a:solidFill>
                  <a:srgbClr val="FF0000"/>
                </a:solidFill>
                <a:latin typeface="Times New Roman" panose="02020603050405020304" pitchFamily="18" charset="0"/>
                <a:cs typeface="Times New Roman" panose="02020603050405020304" pitchFamily="18" charset="0"/>
              </a:rPr>
              <a:t>Tell us how many rows your dataset has.</a:t>
            </a:r>
            <a:br>
              <a:rPr lang="en-GB" sz="2000" dirty="0">
                <a:solidFill>
                  <a:srgbClr val="FF0000"/>
                </a:solidFill>
                <a:latin typeface="Times New Roman" panose="02020603050405020304" pitchFamily="18" charset="0"/>
                <a:cs typeface="Times New Roman" panose="02020603050405020304" pitchFamily="18" charset="0"/>
              </a:rPr>
            </a:br>
            <a:r>
              <a:rPr lang="en-GB" sz="2000" b="0" dirty="0">
                <a:latin typeface="Times New Roman" panose="02020603050405020304" pitchFamily="18" charset="0"/>
                <a:cs typeface="Times New Roman" panose="02020603050405020304" pitchFamily="18" charset="0"/>
              </a:rPr>
              <a:t>The dataset contains 157 rows (countries).</a:t>
            </a:r>
            <a:br>
              <a:rPr lang="en-GB" sz="2000" dirty="0">
                <a:solidFill>
                  <a:srgbClr val="FF0000"/>
                </a:solidFill>
                <a:latin typeface="Times New Roman" panose="02020603050405020304" pitchFamily="18" charset="0"/>
                <a:cs typeface="Times New Roman" panose="02020603050405020304" pitchFamily="18" charset="0"/>
              </a:rPr>
            </a:br>
            <a:endParaRPr lang="en-GB" sz="2000" dirty="0">
              <a:solidFill>
                <a:srgbClr val="FF0000"/>
              </a:solidFill>
              <a:latin typeface="Times New Roman" panose="02020603050405020304" pitchFamily="18" charset="0"/>
              <a:cs typeface="Times New Roman" panose="02020603050405020304" pitchFamily="18" charset="0"/>
            </a:endParaRPr>
          </a:p>
          <a:p>
            <a:endParaRPr lang="en-US" dirty="0">
              <a:solidFill>
                <a:srgbClr val="FF0000"/>
              </a:solidFill>
              <a:latin typeface="Times New Roman" panose="02020603050405020304" pitchFamily="18" charset="0"/>
              <a:cs typeface="Times New Roman" panose="02020603050405020304" pitchFamily="18" charset="0"/>
            </a:endParaRPr>
          </a:p>
        </p:txBody>
      </p:sp>
      <p:sp>
        <p:nvSpPr>
          <p:cNvPr id="5" name="Rectangle 1">
            <a:extLst>
              <a:ext uri="{FF2B5EF4-FFF2-40B4-BE49-F238E27FC236}">
                <a16:creationId xmlns:a16="http://schemas.microsoft.com/office/drawing/2014/main" id="{C0D065D8-D7AC-C75B-AAB7-77DED644DA40}"/>
              </a:ext>
            </a:extLst>
          </p:cNvPr>
          <p:cNvSpPr>
            <a:spLocks noChangeArrowheads="1"/>
          </p:cNvSpPr>
          <p:nvPr/>
        </p:nvSpPr>
        <p:spPr bwMode="auto">
          <a:xfrm>
            <a:off x="192024" y="126230"/>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6" name="AutoShape 3">
            <a:extLst>
              <a:ext uri="{FF2B5EF4-FFF2-40B4-BE49-F238E27FC236}">
                <a16:creationId xmlns:a16="http://schemas.microsoft.com/office/drawing/2014/main" id="{9F9B8B46-5348-C6C5-50F5-3F192C886842}"/>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 name="Picture 9" descr="A screenshot of a computer&#10;&#10;AI-generated content may be incorrect.">
            <a:extLst>
              <a:ext uri="{FF2B5EF4-FFF2-40B4-BE49-F238E27FC236}">
                <a16:creationId xmlns:a16="http://schemas.microsoft.com/office/drawing/2014/main" id="{3FFA34DC-1405-C5C0-A5DD-2E71D3A34C81}"/>
              </a:ext>
            </a:extLst>
          </p:cNvPr>
          <p:cNvPicPr>
            <a:picLocks noChangeAspect="1"/>
          </p:cNvPicPr>
          <p:nvPr/>
        </p:nvPicPr>
        <p:blipFill>
          <a:blip r:embed="rId3">
            <a:extLst>
              <a:ext uri="{28A0092B-C50C-407E-A947-70E740481C1C}">
                <a14:useLocalDpi xmlns:a14="http://schemas.microsoft.com/office/drawing/2010/main" val="0"/>
              </a:ext>
            </a:extLst>
          </a:blip>
          <a:srcRect r="26547" b="17283"/>
          <a:stretch>
            <a:fillRect/>
          </a:stretch>
        </p:blipFill>
        <p:spPr>
          <a:xfrm>
            <a:off x="1709929" y="2837747"/>
            <a:ext cx="4919472" cy="1706762"/>
          </a:xfrm>
          <a:prstGeom prst="rect">
            <a:avLst/>
          </a:prstGeom>
        </p:spPr>
      </p:pic>
    </p:spTree>
    <p:extLst>
      <p:ext uri="{BB962C8B-B14F-4D97-AF65-F5344CB8AC3E}">
        <p14:creationId xmlns:p14="http://schemas.microsoft.com/office/powerpoint/2010/main" val="7130926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965288" y="1163357"/>
            <a:ext cx="10110240" cy="352567"/>
          </a:xfrm>
        </p:spPr>
        <p:txBody>
          <a:bodyPr vert="horz" lIns="0" tIns="0" rIns="0" bIns="0" rtlCol="0" anchor="t">
            <a:noAutofit/>
          </a:bodyPr>
          <a:lstStyle/>
          <a:p>
            <a:r>
              <a:rPr lang="en-US" sz="2400" dirty="0"/>
              <a:t>Dataset </a:t>
            </a:r>
            <a:r>
              <a:rPr lang="en-US" sz="2400" dirty="0">
                <a:solidFill>
                  <a:srgbClr val="203232"/>
                </a:solidFill>
              </a:rPr>
              <a:t>ID</a:t>
            </a:r>
            <a:r>
              <a:rPr lang="en-US" sz="2400" dirty="0">
                <a:solidFill>
                  <a:srgbClr val="FF0000"/>
                </a:solidFill>
              </a:rPr>
              <a:t>: </a:t>
            </a:r>
            <a:r>
              <a:rPr lang="en-US" sz="1600" dirty="0">
                <a:solidFill>
                  <a:srgbClr val="FF0000"/>
                </a:solidFill>
              </a:rPr>
              <a:t>  </a:t>
            </a:r>
            <a:r>
              <a:rPr lang="en-US" sz="2400" dirty="0">
                <a:solidFill>
                  <a:srgbClr val="FF0000"/>
                </a:solidFill>
              </a:rPr>
              <a:t>(DS283 , 2016.csv(Happiness Score )</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965288" y="791022"/>
            <a:ext cx="9129687" cy="230832"/>
          </a:xfrm>
        </p:spPr>
        <p:txBody>
          <a:bodyPr/>
          <a:lstStyle/>
          <a:p>
            <a:r>
              <a:rPr lang="en-GB" dirty="0"/>
              <a:t>7COM1079-2025  Student Group No:  B111                  Names of Student Group Attendees: </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a:t>2</a:t>
            </a:r>
            <a:endParaRPr lang="en-GB"/>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965288" y="1657427"/>
            <a:ext cx="10974945" cy="2462909"/>
          </a:xfrm>
        </p:spPr>
        <p:txBody>
          <a:bodyPr>
            <a:noAutofit/>
          </a:bodyPr>
          <a:lstStyle/>
          <a:p>
            <a:pPr>
              <a:lnSpc>
                <a:spcPct val="100000"/>
              </a:lnSpc>
            </a:pPr>
            <a:r>
              <a:rPr lang="en-US" sz="2000" dirty="0">
                <a:latin typeface="Times New Roman" panose="02020603050405020304" pitchFamily="18" charset="0"/>
                <a:cs typeface="Times New Roman" panose="02020603050405020304" pitchFamily="18" charset="0"/>
              </a:rPr>
              <a:t>This dataset is interesting to us because </a:t>
            </a:r>
            <a:r>
              <a:rPr lang="en-US" sz="2400" dirty="0">
                <a:solidFill>
                  <a:srgbClr val="FF0000"/>
                </a:solidFill>
                <a:latin typeface="Times New Roman" panose="02020603050405020304" pitchFamily="18" charset="0"/>
                <a:cs typeface="Times New Roman" panose="02020603050405020304" pitchFamily="18" charset="0"/>
              </a:rPr>
              <a:t>:</a:t>
            </a:r>
            <a:r>
              <a:rPr lang="en-GB" sz="2400" dirty="0">
                <a:latin typeface="Times New Roman" panose="02020603050405020304" pitchFamily="18" charset="0"/>
                <a:cs typeface="Times New Roman" panose="02020603050405020304" pitchFamily="18" charset="0"/>
              </a:rPr>
              <a:t> </a:t>
            </a:r>
            <a:r>
              <a:rPr lang="en-GB" sz="1800" b="0" dirty="0">
                <a:latin typeface="Times New Roman" panose="02020603050405020304" pitchFamily="18" charset="0"/>
                <a:cs typeface="Times New Roman" panose="02020603050405020304" pitchFamily="18" charset="0"/>
              </a:rPr>
              <a:t>This dataset is interesting to us because it allows us to compare how economic conditions relate to people’s overall happiness across different countries</a:t>
            </a:r>
            <a:r>
              <a:rPr lang="en-GB" sz="2400" b="0" dirty="0">
                <a:latin typeface="Times New Roman" panose="02020603050405020304" pitchFamily="18" charset="0"/>
                <a:cs typeface="Times New Roman" panose="02020603050405020304" pitchFamily="18" charset="0"/>
              </a:rPr>
              <a:t>.</a:t>
            </a:r>
            <a:br>
              <a:rPr lang="en-GB" sz="2400" b="0" dirty="0">
                <a:latin typeface="Times New Roman" panose="02020603050405020304" pitchFamily="18" charset="0"/>
                <a:cs typeface="Times New Roman" panose="02020603050405020304" pitchFamily="18" charset="0"/>
              </a:rPr>
            </a:br>
            <a:br>
              <a:rPr lang="en-US" sz="2400" b="0" dirty="0">
                <a:latin typeface="Times New Roman" panose="02020603050405020304" pitchFamily="18" charset="0"/>
                <a:cs typeface="Times New Roman" panose="02020603050405020304" pitchFamily="18" charset="0"/>
              </a:rPr>
            </a:br>
            <a:r>
              <a:rPr lang="en-US" sz="2000" dirty="0">
                <a:latin typeface="Times New Roman" panose="02020603050405020304" pitchFamily="18" charset="0"/>
                <a:cs typeface="Times New Roman" panose="02020603050405020304" pitchFamily="18" charset="0"/>
              </a:rPr>
              <a:t>Our  Independent variable is</a:t>
            </a:r>
            <a:r>
              <a:rPr lang="en-US" sz="2400" dirty="0">
                <a:latin typeface="Times New Roman" panose="02020603050405020304" pitchFamily="18" charset="0"/>
                <a:cs typeface="Times New Roman" panose="02020603050405020304" pitchFamily="18" charset="0"/>
              </a:rPr>
              <a:t>: </a:t>
            </a:r>
            <a:r>
              <a:rPr lang="en-IN" sz="1800" b="0" dirty="0">
                <a:latin typeface="Times New Roman" panose="02020603050405020304" pitchFamily="18" charset="0"/>
                <a:cs typeface="Times New Roman" panose="02020603050405020304" pitchFamily="18" charset="0"/>
              </a:rPr>
              <a:t>Economy (GDP per Capita)</a:t>
            </a:r>
            <a:br>
              <a:rPr lang="en-US" sz="1800" b="0" dirty="0">
                <a:latin typeface="Times New Roman" panose="02020603050405020304" pitchFamily="18" charset="0"/>
                <a:cs typeface="Times New Roman" panose="02020603050405020304" pitchFamily="18" charset="0"/>
              </a:rPr>
            </a:br>
            <a:r>
              <a:rPr lang="en-US" sz="2000" dirty="0">
                <a:latin typeface="Times New Roman" panose="02020603050405020304" pitchFamily="18" charset="0"/>
                <a:cs typeface="Times New Roman" panose="02020603050405020304" pitchFamily="18" charset="0"/>
              </a:rPr>
              <a:t>This  Independent variable datatype is </a:t>
            </a:r>
            <a:r>
              <a:rPr lang="en-US" sz="2400" dirty="0">
                <a:latin typeface="Times New Roman" panose="02020603050405020304" pitchFamily="18" charset="0"/>
                <a:cs typeface="Times New Roman" panose="02020603050405020304" pitchFamily="18" charset="0"/>
              </a:rPr>
              <a:t>: </a:t>
            </a:r>
            <a:r>
              <a:rPr lang="en-GB" sz="1800" b="0" dirty="0">
                <a:latin typeface="Times New Roman" panose="02020603050405020304" pitchFamily="18" charset="0"/>
                <a:cs typeface="Times New Roman" panose="02020603050405020304" pitchFamily="18" charset="0"/>
              </a:rPr>
              <a:t>Interval/measurement data</a:t>
            </a:r>
            <a:br>
              <a:rPr lang="en-GB" sz="2400" b="0" dirty="0">
                <a:latin typeface="Times New Roman" panose="02020603050405020304" pitchFamily="18" charset="0"/>
                <a:cs typeface="Times New Roman" panose="02020603050405020304" pitchFamily="18" charset="0"/>
              </a:rPr>
            </a:br>
            <a:r>
              <a:rPr lang="en-GB" sz="2000" b="0" dirty="0">
                <a:latin typeface="Times New Roman" panose="02020603050405020304" pitchFamily="18" charset="0"/>
                <a:cs typeface="Times New Roman" panose="02020603050405020304" pitchFamily="18" charset="0"/>
              </a:rPr>
              <a:t>(</a:t>
            </a:r>
            <a:r>
              <a:rPr lang="en-GB" sz="2000" dirty="0">
                <a:latin typeface="Times New Roman" panose="02020603050405020304" pitchFamily="18" charset="0"/>
                <a:cs typeface="Times New Roman" panose="02020603050405020304" pitchFamily="18" charset="0"/>
              </a:rPr>
              <a:t>Reason:</a:t>
            </a:r>
            <a:r>
              <a:rPr lang="en-GB" sz="2400" dirty="0">
                <a:latin typeface="Times New Roman" panose="02020603050405020304" pitchFamily="18" charset="0"/>
                <a:cs typeface="Times New Roman" panose="02020603050405020304" pitchFamily="18" charset="0"/>
              </a:rPr>
              <a:t> </a:t>
            </a:r>
            <a:r>
              <a:rPr lang="en-GB" sz="1800" b="0" dirty="0">
                <a:latin typeface="Times New Roman" panose="02020603050405020304" pitchFamily="18" charset="0"/>
                <a:cs typeface="Times New Roman" panose="02020603050405020304" pitchFamily="18" charset="0"/>
              </a:rPr>
              <a:t>It is a numerical, continuous variable measured on a meaningful scale.</a:t>
            </a:r>
            <a:r>
              <a:rPr lang="en-GB" sz="2000" b="0" dirty="0">
                <a:latin typeface="Times New Roman" panose="02020603050405020304" pitchFamily="18" charset="0"/>
                <a:cs typeface="Times New Roman" panose="02020603050405020304" pitchFamily="18" charset="0"/>
              </a:rPr>
              <a:t>)</a:t>
            </a:r>
            <a:br>
              <a:rPr lang="en-GB" sz="2000" b="0" dirty="0">
                <a:latin typeface="Times New Roman" panose="02020603050405020304" pitchFamily="18" charset="0"/>
                <a:cs typeface="Times New Roman" panose="02020603050405020304" pitchFamily="18" charset="0"/>
              </a:rPr>
            </a:br>
            <a:br>
              <a:rPr lang="en-GB" sz="2400" b="0" dirty="0">
                <a:latin typeface="Times New Roman" panose="02020603050405020304" pitchFamily="18" charset="0"/>
                <a:cs typeface="Times New Roman" panose="02020603050405020304" pitchFamily="18" charset="0"/>
              </a:rPr>
            </a:br>
            <a:r>
              <a:rPr lang="en-US" sz="2000" dirty="0">
                <a:latin typeface="Times New Roman" panose="02020603050405020304" pitchFamily="18" charset="0"/>
                <a:cs typeface="Times New Roman" panose="02020603050405020304" pitchFamily="18" charset="0"/>
              </a:rPr>
              <a:t>Our Dependent variable is: </a:t>
            </a:r>
            <a:r>
              <a:rPr lang="en-IN" sz="1800" b="0" dirty="0">
                <a:latin typeface="Times New Roman" panose="02020603050405020304" pitchFamily="18" charset="0"/>
                <a:cs typeface="Times New Roman" panose="02020603050405020304" pitchFamily="18" charset="0"/>
              </a:rPr>
              <a:t>Happiness Score</a:t>
            </a:r>
            <a:br>
              <a:rPr lang="en-US" sz="2400" b="0" dirty="0">
                <a:latin typeface="Times New Roman" panose="02020603050405020304" pitchFamily="18" charset="0"/>
                <a:cs typeface="Times New Roman" panose="02020603050405020304" pitchFamily="18" charset="0"/>
              </a:rPr>
            </a:br>
            <a:r>
              <a:rPr lang="en-US" sz="2400" dirty="0">
                <a:solidFill>
                  <a:srgbClr val="FF0000"/>
                </a:solidFill>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This Dependent variable datatype is  </a:t>
            </a:r>
            <a:r>
              <a:rPr lang="en-US" sz="2400" b="0" dirty="0">
                <a:latin typeface="Times New Roman" panose="02020603050405020304" pitchFamily="18" charset="0"/>
                <a:cs typeface="Times New Roman" panose="02020603050405020304" pitchFamily="18" charset="0"/>
              </a:rPr>
              <a:t>: </a:t>
            </a:r>
            <a:r>
              <a:rPr lang="en-GB" sz="1800" b="0" dirty="0">
                <a:latin typeface="Times New Roman" panose="02020603050405020304" pitchFamily="18" charset="0"/>
                <a:cs typeface="Times New Roman" panose="02020603050405020304" pitchFamily="18" charset="0"/>
              </a:rPr>
              <a:t>Interval/measurement data</a:t>
            </a:r>
            <a:br>
              <a:rPr lang="en-GB" sz="2400" dirty="0">
                <a:latin typeface="Times New Roman" panose="02020603050405020304" pitchFamily="18" charset="0"/>
                <a:cs typeface="Times New Roman" panose="02020603050405020304" pitchFamily="18" charset="0"/>
              </a:rPr>
            </a:br>
            <a:r>
              <a:rPr lang="en-GB" sz="2400" b="0" dirty="0">
                <a:latin typeface="Times New Roman" panose="02020603050405020304" pitchFamily="18" charset="0"/>
                <a:cs typeface="Times New Roman" panose="02020603050405020304" pitchFamily="18" charset="0"/>
              </a:rPr>
              <a:t>(</a:t>
            </a:r>
            <a:r>
              <a:rPr lang="en-GB" sz="2000" dirty="0">
                <a:latin typeface="Times New Roman" panose="02020603050405020304" pitchFamily="18" charset="0"/>
                <a:cs typeface="Times New Roman" panose="02020603050405020304" pitchFamily="18" charset="0"/>
              </a:rPr>
              <a:t>Reason:</a:t>
            </a:r>
            <a:r>
              <a:rPr lang="en-GB" sz="2400" dirty="0">
                <a:latin typeface="Times New Roman" panose="02020603050405020304" pitchFamily="18" charset="0"/>
                <a:cs typeface="Times New Roman" panose="02020603050405020304" pitchFamily="18" charset="0"/>
              </a:rPr>
              <a:t> </a:t>
            </a:r>
            <a:r>
              <a:rPr lang="en-GB" sz="1800" b="0" dirty="0">
                <a:latin typeface="Times New Roman" panose="02020603050405020304" pitchFamily="18" charset="0"/>
                <a:cs typeface="Times New Roman" panose="02020603050405020304" pitchFamily="18" charset="0"/>
              </a:rPr>
              <a:t>Happiness Score is a numerical, continuous value</a:t>
            </a:r>
            <a:r>
              <a:rPr lang="en-GB" sz="2400" b="0" dirty="0">
                <a:latin typeface="Times New Roman" panose="02020603050405020304" pitchFamily="18" charset="0"/>
                <a:cs typeface="Times New Roman" panose="02020603050405020304" pitchFamily="18" charset="0"/>
              </a:rPr>
              <a:t>.)</a:t>
            </a:r>
            <a:endParaRPr lang="en-US" sz="2400" b="0" dirty="0">
              <a:solidFill>
                <a:srgbClr val="FF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180049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5289" y="1589930"/>
            <a:ext cx="9753625" cy="465012"/>
          </a:xfrm>
        </p:spPr>
        <p:txBody>
          <a:bodyPr/>
          <a:lstStyle/>
          <a:p>
            <a:pPr algn="ctr">
              <a:spcAft>
                <a:spcPts val="0"/>
              </a:spcAft>
            </a:pPr>
            <a:r>
              <a:rPr lang="en-GB" sz="2400" dirty="0"/>
              <a:t>Our Research Question is</a:t>
            </a:r>
            <a:endParaRPr lang="en-GB" sz="2400" dirty="0">
              <a:solidFill>
                <a:srgbClr val="FF0000"/>
              </a:solidFil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p:txBody>
          <a:bodyPr/>
          <a:lstStyle/>
          <a:p>
            <a:r>
              <a:rPr lang="en-GB" dirty="0"/>
              <a:t>PRE 7COM1079-2025  Student Group No: B111</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965289" y="2128323"/>
            <a:ext cx="10640594" cy="2203014"/>
          </a:xfrm>
        </p:spPr>
        <p:txBody>
          <a:bodyPr>
            <a:noAutofit/>
          </a:bodyPr>
          <a:lstStyle/>
          <a:p>
            <a:pPr>
              <a:lnSpc>
                <a:spcPct val="100000"/>
              </a:lnSpc>
            </a:pPr>
            <a:br>
              <a:rPr lang="en-IE" sz="2400" b="0" dirty="0">
                <a:latin typeface="Times New Roman" panose="02020603050405020304" pitchFamily="18" charset="0"/>
                <a:ea typeface="Calibri" panose="020F0502020204030204" pitchFamily="34" charset="0"/>
                <a:cs typeface="Times New Roman" panose="02020603050405020304" pitchFamily="18" charset="0"/>
              </a:rPr>
            </a:br>
            <a:r>
              <a:rPr lang="en-GB" sz="2400" b="0" dirty="0">
                <a:effectLst/>
                <a:latin typeface="Times New Roman" panose="02020603050405020304" pitchFamily="18" charset="0"/>
                <a:ea typeface="Calibri" panose="020F0502020204030204" pitchFamily="34" charset="0"/>
                <a:cs typeface="Times New Roman" panose="02020603050405020304" pitchFamily="18" charset="0"/>
              </a:rPr>
              <a:t>“</a:t>
            </a:r>
            <a:r>
              <a:rPr lang="en-GB" sz="2400" b="0" dirty="0">
                <a:latin typeface="Times New Roman" panose="02020603050405020304" pitchFamily="18" charset="0"/>
                <a:cs typeface="Times New Roman" panose="02020603050405020304" pitchFamily="18" charset="0"/>
              </a:rPr>
              <a:t>This study investigates whether there is a correlation between Happiness Score and Economy (GDP per Capita) across countries in the 2016 World Happiness dataset. By examining this relationship, we aim to understand whether higher economic prosperity is associated with higher levels of national happiness.”</a:t>
            </a:r>
            <a:br>
              <a:rPr lang="en-IE" sz="2400" dirty="0">
                <a:effectLst/>
                <a:latin typeface="Times New Roman" panose="02020603050405020304" pitchFamily="18" charset="0"/>
                <a:ea typeface="Calibri" panose="020F0502020204030204" pitchFamily="34" charset="0"/>
                <a:cs typeface="Times New Roman" panose="02020603050405020304" pitchFamily="18" charset="0"/>
              </a:rPr>
            </a:br>
            <a:br>
              <a:rPr lang="en-IE" sz="2400" dirty="0">
                <a:effectLst/>
                <a:latin typeface="Times New Roman" panose="02020603050405020304" pitchFamily="18" charset="0"/>
                <a:ea typeface="Calibri" panose="020F0502020204030204" pitchFamily="34" charset="0"/>
                <a:cs typeface="Times New Roman" panose="02020603050405020304" pitchFamily="18" charset="0"/>
              </a:rPr>
            </a:br>
            <a:br>
              <a:rPr lang="en-GB" sz="2400" dirty="0">
                <a:effectLst/>
                <a:latin typeface="Times New Roman" panose="02020603050405020304" pitchFamily="18" charset="0"/>
                <a:ea typeface="Calibri" panose="020F0502020204030204" pitchFamily="34" charset="0"/>
                <a:cs typeface="Times New Roman" panose="02020603050405020304" pitchFamily="18" charset="0"/>
              </a:rPr>
            </a:br>
            <a:endParaRPr lang="en-GB" sz="2400" dirty="0">
              <a:solidFill>
                <a:srgbClr val="FF0000"/>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4946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6B64221B-D6D4-E382-A91A-99FF908D5475}"/>
              </a:ext>
            </a:extLst>
          </p:cNvPr>
          <p:cNvSpPr>
            <a:spLocks noGrp="1"/>
          </p:cNvSpPr>
          <p:nvPr>
            <p:ph type="subTitle" idx="1"/>
          </p:nvPr>
        </p:nvSpPr>
        <p:spPr>
          <a:xfrm>
            <a:off x="630947" y="1326791"/>
            <a:ext cx="10406581" cy="1829364"/>
          </a:xfrm>
        </p:spPr>
        <p:txBody>
          <a:bodyPr vert="horz" lIns="0" tIns="0" rIns="0" bIns="0" rtlCol="0" anchor="t">
            <a:noAutofit/>
          </a:bodyPr>
          <a:lstStyle/>
          <a:p>
            <a:pPr algn="ctr">
              <a:lnSpc>
                <a:spcPct val="100000"/>
              </a:lnSpc>
            </a:pPr>
            <a:r>
              <a:rPr lang="en-GB" sz="2400" dirty="0">
                <a:latin typeface="Times New Roman" panose="02020603050405020304" pitchFamily="18" charset="0"/>
                <a:cs typeface="Times New Roman" panose="02020603050405020304" pitchFamily="18" charset="0"/>
              </a:rPr>
              <a:t>Hypotheses</a:t>
            </a:r>
            <a:r>
              <a:rPr lang="en-GB" sz="2400" b="0" dirty="0">
                <a:latin typeface="Times New Roman" panose="02020603050405020304" pitchFamily="18" charset="0"/>
                <a:cs typeface="Times New Roman" panose="02020603050405020304" pitchFamily="18" charset="0"/>
              </a:rPr>
              <a:t>:</a:t>
            </a:r>
            <a:br>
              <a:rPr lang="en-GB" sz="2400" b="0" dirty="0">
                <a:latin typeface="Times New Roman" panose="02020603050405020304" pitchFamily="18" charset="0"/>
                <a:cs typeface="Times New Roman" panose="02020603050405020304" pitchFamily="18" charset="0"/>
              </a:rPr>
            </a:br>
            <a:endParaRPr lang="en-GB" sz="2400" b="0" dirty="0">
              <a:latin typeface="Times New Roman" panose="02020603050405020304" pitchFamily="18" charset="0"/>
              <a:cs typeface="Times New Roman" panose="02020603050405020304" pitchFamily="18" charset="0"/>
            </a:endParaRPr>
          </a:p>
          <a:p>
            <a:pPr>
              <a:lnSpc>
                <a:spcPct val="100000"/>
              </a:lnSpc>
            </a:pPr>
            <a:r>
              <a:rPr lang="en-GB" sz="2000" b="0" dirty="0">
                <a:solidFill>
                  <a:srgbClr val="FF0000"/>
                </a:solidFill>
                <a:latin typeface="Times New Roman" panose="02020603050405020304" pitchFamily="18" charset="0"/>
                <a:cs typeface="Times New Roman" panose="02020603050405020304" pitchFamily="18" charset="0"/>
              </a:rPr>
              <a:t>Null hypothesis (H</a:t>
            </a:r>
            <a:r>
              <a:rPr lang="en-GB" sz="2000" b="0" baseline="-25000" dirty="0">
                <a:solidFill>
                  <a:srgbClr val="FF0000"/>
                </a:solidFill>
                <a:latin typeface="Times New Roman" panose="02020603050405020304" pitchFamily="18" charset="0"/>
                <a:cs typeface="Times New Roman" panose="02020603050405020304" pitchFamily="18" charset="0"/>
              </a:rPr>
              <a:t>0</a:t>
            </a:r>
            <a:r>
              <a:rPr lang="en-GB" sz="2000" b="0" dirty="0">
                <a:solidFill>
                  <a:srgbClr val="FF0000"/>
                </a:solidFill>
                <a:latin typeface="Times New Roman" panose="02020603050405020304" pitchFamily="18" charset="0"/>
                <a:cs typeface="Times New Roman" panose="02020603050405020304" pitchFamily="18" charset="0"/>
              </a:rPr>
              <a:t>): </a:t>
            </a:r>
            <a:r>
              <a:rPr lang="en-GB" sz="2000" dirty="0">
                <a:latin typeface="Times New Roman" panose="02020603050405020304" pitchFamily="18" charset="0"/>
                <a:cs typeface="Times New Roman" panose="02020603050405020304" pitchFamily="18" charset="0"/>
              </a:rPr>
              <a:t>There is no correlation between Happiness Score and Economy (GDP per Capita).</a:t>
            </a:r>
            <a:endParaRPr lang="en-GB" sz="2000" b="0" dirty="0">
              <a:solidFill>
                <a:srgbClr val="FF0000"/>
              </a:solidFill>
              <a:latin typeface="Times New Roman" panose="02020603050405020304" pitchFamily="18" charset="0"/>
              <a:cs typeface="Times New Roman" panose="02020603050405020304" pitchFamily="18" charset="0"/>
            </a:endParaRPr>
          </a:p>
          <a:p>
            <a:pPr>
              <a:lnSpc>
                <a:spcPct val="100000"/>
              </a:lnSpc>
            </a:pPr>
            <a:r>
              <a:rPr lang="en-GB" sz="2000" b="0" dirty="0">
                <a:solidFill>
                  <a:srgbClr val="FF0000"/>
                </a:solidFill>
                <a:latin typeface="Times New Roman" panose="02020603050405020304" pitchFamily="18" charset="0"/>
                <a:cs typeface="Times New Roman" panose="02020603050405020304" pitchFamily="18" charset="0"/>
              </a:rPr>
              <a:t>Alt hypothesis (H</a:t>
            </a:r>
            <a:r>
              <a:rPr lang="en-GB" sz="2000" b="0" baseline="-25000" dirty="0">
                <a:solidFill>
                  <a:srgbClr val="FF0000"/>
                </a:solidFill>
                <a:latin typeface="Times New Roman" panose="02020603050405020304" pitchFamily="18" charset="0"/>
                <a:cs typeface="Times New Roman" panose="02020603050405020304" pitchFamily="18" charset="0"/>
              </a:rPr>
              <a:t>1</a:t>
            </a:r>
            <a:r>
              <a:rPr lang="en-GB" sz="2000" b="0" dirty="0">
                <a:solidFill>
                  <a:srgbClr val="FF0000"/>
                </a:solidFill>
                <a:latin typeface="Times New Roman" panose="02020603050405020304" pitchFamily="18" charset="0"/>
                <a:cs typeface="Times New Roman" panose="02020603050405020304" pitchFamily="18" charset="0"/>
              </a:rPr>
              <a:t>): </a:t>
            </a:r>
            <a:r>
              <a:rPr lang="en-GB" sz="2000" dirty="0">
                <a:latin typeface="Times New Roman" panose="02020603050405020304" pitchFamily="18" charset="0"/>
                <a:cs typeface="Times New Roman" panose="02020603050405020304" pitchFamily="18" charset="0"/>
              </a:rPr>
              <a:t>There is a correlation between Happiness Score and Economy (GDP per Capita).</a:t>
            </a:r>
            <a:endParaRPr lang="en-GB" sz="2000" b="0" dirty="0">
              <a:solidFill>
                <a:srgbClr val="FF0000"/>
              </a:solidFill>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FF7EDF94-2B89-A21D-BBC0-E455C2D9893B}"/>
              </a:ext>
            </a:extLst>
          </p:cNvPr>
          <p:cNvSpPr>
            <a:spLocks noGrp="1"/>
          </p:cNvSpPr>
          <p:nvPr>
            <p:ph type="sldNum" sz="quarter" idx="12"/>
          </p:nvPr>
        </p:nvSpPr>
        <p:spPr>
          <a:xfrm>
            <a:off x="11269543" y="284375"/>
            <a:ext cx="558281" cy="221244"/>
          </a:xfrm>
        </p:spPr>
        <p:txBody>
          <a:bodyPr/>
          <a:lstStyle/>
          <a:p>
            <a:r>
              <a:rPr lang="en-US"/>
              <a:t>4</a:t>
            </a:r>
            <a:endParaRPr lang="en-GB"/>
          </a:p>
        </p:txBody>
      </p:sp>
      <p:sp>
        <p:nvSpPr>
          <p:cNvPr id="3" name="Footer Placeholder 2">
            <a:extLst>
              <a:ext uri="{FF2B5EF4-FFF2-40B4-BE49-F238E27FC236}">
                <a16:creationId xmlns:a16="http://schemas.microsoft.com/office/drawing/2014/main" id="{D8A35D28-D276-2BCE-2117-A9D50F1A605E}"/>
              </a:ext>
            </a:extLst>
          </p:cNvPr>
          <p:cNvSpPr>
            <a:spLocks noGrp="1"/>
          </p:cNvSpPr>
          <p:nvPr>
            <p:ph type="ftr" sz="quarter" idx="11"/>
          </p:nvPr>
        </p:nvSpPr>
        <p:spPr>
          <a:xfrm>
            <a:off x="630947" y="584545"/>
            <a:ext cx="7176911" cy="230832"/>
          </a:xfrm>
        </p:spPr>
        <p:txBody>
          <a:bodyPr/>
          <a:lstStyle/>
          <a:p>
            <a:r>
              <a:rPr lang="en-GB" dirty="0"/>
              <a:t>PRE 7COM1079-2025  Student Group No: B111</a:t>
            </a:r>
          </a:p>
        </p:txBody>
      </p:sp>
    </p:spTree>
    <p:extLst>
      <p:ext uri="{BB962C8B-B14F-4D97-AF65-F5344CB8AC3E}">
        <p14:creationId xmlns:p14="http://schemas.microsoft.com/office/powerpoint/2010/main" val="29523384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3DA1712-B1FE-EA27-F919-8CB61363B42F}"/>
              </a:ext>
            </a:extLst>
          </p:cNvPr>
          <p:cNvSpPr>
            <a:spLocks noGrp="1"/>
          </p:cNvSpPr>
          <p:nvPr>
            <p:ph type="sldNum" sz="quarter" idx="12"/>
          </p:nvPr>
        </p:nvSpPr>
        <p:spPr/>
        <p:txBody>
          <a:bodyPr/>
          <a:lstStyle/>
          <a:p>
            <a:fld id="{E4D355CA-84B7-41B1-B164-8BB439CC7C6B}" type="slidenum">
              <a:rPr lang="en-GB" smtClean="0"/>
              <a:pPr/>
              <a:t>6</a:t>
            </a:fld>
            <a:endParaRPr lang="en-GB"/>
          </a:p>
        </p:txBody>
      </p:sp>
      <p:sp>
        <p:nvSpPr>
          <p:cNvPr id="5" name="Title 4">
            <a:extLst>
              <a:ext uri="{FF2B5EF4-FFF2-40B4-BE49-F238E27FC236}">
                <a16:creationId xmlns:a16="http://schemas.microsoft.com/office/drawing/2014/main" id="{5F915859-CEB0-1BCD-04EA-B6E8E7EB90AA}"/>
              </a:ext>
            </a:extLst>
          </p:cNvPr>
          <p:cNvSpPr>
            <a:spLocks noGrp="1"/>
          </p:cNvSpPr>
          <p:nvPr>
            <p:ph type="ctrTitle"/>
          </p:nvPr>
        </p:nvSpPr>
        <p:spPr>
          <a:xfrm>
            <a:off x="896643" y="1086120"/>
            <a:ext cx="10031157" cy="2160000"/>
          </a:xfrm>
        </p:spPr>
        <p:txBody>
          <a:bodyPr>
            <a:normAutofit fontScale="90000"/>
          </a:bodyPr>
          <a:lstStyle/>
          <a:p>
            <a:pPr>
              <a:lnSpc>
                <a:spcPct val="150000"/>
              </a:lnSpc>
            </a:pPr>
            <a:r>
              <a:rPr lang="en-GB" sz="2000" dirty="0">
                <a:latin typeface="Times New Roman" panose="02020603050405020304" pitchFamily="18" charset="0"/>
                <a:cs typeface="Times New Roman" panose="02020603050405020304" pitchFamily="18" charset="0"/>
              </a:rPr>
              <a:t>Pearson correlation test results:</a:t>
            </a:r>
            <a:br>
              <a:rPr lang="en-GB" sz="2000" dirty="0">
                <a:latin typeface="Times New Roman" panose="02020603050405020304" pitchFamily="18" charset="0"/>
                <a:cs typeface="Times New Roman" panose="02020603050405020304" pitchFamily="18" charset="0"/>
              </a:rPr>
            </a:br>
            <a:r>
              <a:rPr lang="en-GB" sz="2000" b="0" i="1" dirty="0">
                <a:latin typeface="Times New Roman" panose="02020603050405020304" pitchFamily="18" charset="0"/>
                <a:cs typeface="Times New Roman" panose="02020603050405020304" pitchFamily="18" charset="0"/>
              </a:rPr>
              <a:t>r</a:t>
            </a:r>
            <a:r>
              <a:rPr lang="en-GB" sz="2000" b="0" dirty="0">
                <a:latin typeface="Times New Roman" panose="02020603050405020304" pitchFamily="18" charset="0"/>
                <a:cs typeface="Times New Roman" panose="02020603050405020304" pitchFamily="18" charset="0"/>
              </a:rPr>
              <a:t> = 0.79</a:t>
            </a:r>
            <a:br>
              <a:rPr lang="en-GB" sz="2000" b="0" dirty="0">
                <a:latin typeface="Times New Roman" panose="02020603050405020304" pitchFamily="18" charset="0"/>
                <a:cs typeface="Times New Roman" panose="02020603050405020304" pitchFamily="18" charset="0"/>
              </a:rPr>
            </a:br>
            <a:r>
              <a:rPr lang="en-GB" sz="2000" b="0" i="1" dirty="0">
                <a:latin typeface="Times New Roman" panose="02020603050405020304" pitchFamily="18" charset="0"/>
                <a:cs typeface="Times New Roman" panose="02020603050405020304" pitchFamily="18" charset="0"/>
              </a:rPr>
              <a:t>p-value</a:t>
            </a:r>
            <a:r>
              <a:rPr lang="en-GB" sz="2000" b="0" dirty="0">
                <a:latin typeface="Times New Roman" panose="02020603050405020304" pitchFamily="18" charset="0"/>
                <a:cs typeface="Times New Roman" panose="02020603050405020304" pitchFamily="18" charset="0"/>
              </a:rPr>
              <a:t> &lt; 2.2e-16</a:t>
            </a:r>
            <a:br>
              <a:rPr lang="en-GB" sz="2000" b="0" dirty="0">
                <a:latin typeface="Times New Roman" panose="02020603050405020304" pitchFamily="18" charset="0"/>
                <a:cs typeface="Times New Roman" panose="02020603050405020304" pitchFamily="18" charset="0"/>
              </a:rPr>
            </a:br>
            <a:r>
              <a:rPr lang="en-GB" sz="2000" b="0" i="1" dirty="0">
                <a:latin typeface="Times New Roman" panose="02020603050405020304" pitchFamily="18" charset="0"/>
                <a:cs typeface="Times New Roman" panose="02020603050405020304" pitchFamily="18" charset="0"/>
              </a:rPr>
              <a:t>n</a:t>
            </a:r>
            <a:r>
              <a:rPr lang="en-GB" sz="2000" b="0" dirty="0">
                <a:latin typeface="Times New Roman" panose="02020603050405020304" pitchFamily="18" charset="0"/>
                <a:cs typeface="Times New Roman" panose="02020603050405020304" pitchFamily="18" charset="0"/>
              </a:rPr>
              <a:t> = 157 countries</a:t>
            </a:r>
            <a:br>
              <a:rPr lang="en-GB" sz="1200" dirty="0">
                <a:latin typeface="Times New Roman" panose="02020603050405020304" pitchFamily="18" charset="0"/>
                <a:cs typeface="Times New Roman" panose="02020603050405020304" pitchFamily="18" charset="0"/>
              </a:rPr>
            </a:br>
            <a:r>
              <a:rPr lang="en-GB" sz="2200" u="sng" dirty="0">
                <a:latin typeface="Times New Roman" panose="02020603050405020304" pitchFamily="18" charset="0"/>
                <a:cs typeface="Times New Roman" panose="02020603050405020304" pitchFamily="18" charset="0"/>
              </a:rPr>
              <a:t>Final Conclusion :</a:t>
            </a:r>
            <a:br>
              <a:rPr lang="en-GB" sz="2200" b="0" u="sng" dirty="0">
                <a:latin typeface="Times New Roman" panose="02020603050405020304" pitchFamily="18" charset="0"/>
                <a:cs typeface="Times New Roman" panose="02020603050405020304" pitchFamily="18" charset="0"/>
              </a:rPr>
            </a:br>
            <a:endParaRPr lang="en-IN" sz="2700"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DB436ED9-9785-45C7-A031-0BCCAF2AB584}"/>
              </a:ext>
            </a:extLst>
          </p:cNvPr>
          <p:cNvSpPr txBox="1"/>
          <p:nvPr/>
        </p:nvSpPr>
        <p:spPr>
          <a:xfrm>
            <a:off x="741598" y="3246120"/>
            <a:ext cx="10962722" cy="1477328"/>
          </a:xfrm>
          <a:prstGeom prst="rect">
            <a:avLst/>
          </a:prstGeom>
          <a:noFill/>
        </p:spPr>
        <p:txBody>
          <a:bodyPr wrap="square" rtlCol="0">
            <a:spAutoFit/>
          </a:bodyPr>
          <a:lstStyle/>
          <a:p>
            <a:r>
              <a:rPr lang="en-GB" dirty="0">
                <a:latin typeface="Times New Roman" panose="02020603050405020304" pitchFamily="18" charset="0"/>
                <a:cs typeface="Times New Roman" panose="02020603050405020304" pitchFamily="18" charset="0"/>
              </a:rPr>
              <a:t>The Pearson correlation test showed a strong positive relationship between Happiness Score and Economy (GDP per Capita) (r = 0.79). The p-value (&lt; 2.2e-16) is significantly below the 0.05 threshold, so we reject the null hypothesis. This confirms that countries with higher GDP per capita tend to have higher happiness scores.</a:t>
            </a:r>
            <a:br>
              <a:rPr lang="en-GB" dirty="0">
                <a:latin typeface="Times New Roman" panose="02020603050405020304" pitchFamily="18" charset="0"/>
                <a:cs typeface="Times New Roman" panose="02020603050405020304" pitchFamily="18" charset="0"/>
              </a:rPr>
            </a:br>
            <a:br>
              <a:rPr lang="en-GB" dirty="0">
                <a:latin typeface="Times New Roman" panose="02020603050405020304" pitchFamily="18" charset="0"/>
                <a:cs typeface="Times New Roman" panose="02020603050405020304" pitchFamily="18" charset="0"/>
              </a:rPr>
            </a:br>
            <a:endParaRPr lang="en-IN" dirty="0"/>
          </a:p>
        </p:txBody>
      </p:sp>
      <p:sp>
        <p:nvSpPr>
          <p:cNvPr id="6" name="Footer Placeholder 2">
            <a:extLst>
              <a:ext uri="{FF2B5EF4-FFF2-40B4-BE49-F238E27FC236}">
                <a16:creationId xmlns:a16="http://schemas.microsoft.com/office/drawing/2014/main" id="{4F8B8FCD-8789-7FA5-EDEF-D919F085E01F}"/>
              </a:ext>
            </a:extLst>
          </p:cNvPr>
          <p:cNvSpPr txBox="1">
            <a:spLocks/>
          </p:cNvSpPr>
          <p:nvPr/>
        </p:nvSpPr>
        <p:spPr>
          <a:xfrm>
            <a:off x="741598" y="560190"/>
            <a:ext cx="7176911" cy="230832"/>
          </a:xfrm>
          <a:prstGeom prst="rect">
            <a:avLst/>
          </a:prstGeom>
        </p:spPr>
        <p:txBody>
          <a:bodyPr vert="horz" lIns="0" tIns="0" rIns="0" bIns="0" rtlCol="0" anchor="t" anchorCtr="0">
            <a:noAutofit/>
          </a:bodyPr>
          <a:lstStyle>
            <a:defPPr>
              <a:defRPr lang="en-US"/>
            </a:defPPr>
            <a:lvl1pPr marL="0" algn="l" defTabSz="914400" rtl="0" eaLnBrk="1" latinLnBrk="0" hangingPunct="1">
              <a:defRPr sz="1500" kern="1200">
                <a:solidFill>
                  <a:srgbClr val="8F9898"/>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PRE 7COM1079-2025  Student Group No: B111</a:t>
            </a:r>
          </a:p>
        </p:txBody>
      </p:sp>
    </p:spTree>
    <p:extLst>
      <p:ext uri="{BB962C8B-B14F-4D97-AF65-F5344CB8AC3E}">
        <p14:creationId xmlns:p14="http://schemas.microsoft.com/office/powerpoint/2010/main" val="25926441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FFEE17A-4AC2-B432-1779-D041F4AA22C7}"/>
              </a:ext>
            </a:extLst>
          </p:cNvPr>
          <p:cNvSpPr>
            <a:spLocks noGrp="1"/>
          </p:cNvSpPr>
          <p:nvPr>
            <p:ph type="sldNum" sz="quarter" idx="12"/>
          </p:nvPr>
        </p:nvSpPr>
        <p:spPr/>
        <p:txBody>
          <a:bodyPr/>
          <a:lstStyle/>
          <a:p>
            <a:fld id="{E4D355CA-84B7-41B1-B164-8BB439CC7C6B}" type="slidenum">
              <a:rPr lang="en-GB" smtClean="0"/>
              <a:pPr/>
              <a:t>7</a:t>
            </a:fld>
            <a:endParaRPr lang="en-GB"/>
          </a:p>
        </p:txBody>
      </p:sp>
      <p:sp>
        <p:nvSpPr>
          <p:cNvPr id="9" name="TextBox 8">
            <a:extLst>
              <a:ext uri="{FF2B5EF4-FFF2-40B4-BE49-F238E27FC236}">
                <a16:creationId xmlns:a16="http://schemas.microsoft.com/office/drawing/2014/main" id="{6D670FE0-2AA4-66DA-F27C-C77E4E379B4D}"/>
              </a:ext>
            </a:extLst>
          </p:cNvPr>
          <p:cNvSpPr txBox="1"/>
          <p:nvPr/>
        </p:nvSpPr>
        <p:spPr>
          <a:xfrm>
            <a:off x="3202686" y="2558534"/>
            <a:ext cx="6094476" cy="1200329"/>
          </a:xfrm>
          <a:prstGeom prst="rect">
            <a:avLst/>
          </a:prstGeom>
          <a:noFill/>
        </p:spPr>
        <p:txBody>
          <a:bodyPr wrap="square">
            <a:spAutoFit/>
          </a:bodyPr>
          <a:lstStyle/>
          <a:p>
            <a:pPr algn="ctr"/>
            <a:r>
              <a:rPr lang="en-GB" sz="7200" b="1" cap="none" spc="0">
                <a:ln w="9525">
                  <a:solidFill>
                    <a:schemeClr val="bg1"/>
                  </a:solidFill>
                  <a:prstDash val="solid"/>
                </a:ln>
                <a:solidFill>
                  <a:schemeClr val="tx1"/>
                </a:solidFill>
                <a:effectLst>
                  <a:outerShdw blurRad="12700" dist="38100" dir="2700000" algn="tl" rotWithShape="0">
                    <a:schemeClr val="bg1">
                      <a:lumMod val="50000"/>
                    </a:schemeClr>
                  </a:outerShdw>
                </a:effectLst>
              </a:rPr>
              <a:t>Thank </a:t>
            </a:r>
            <a:r>
              <a:rPr lang="en-GB" sz="7200" b="1" cap="none" spc="0" dirty="0">
                <a:ln w="9525">
                  <a:solidFill>
                    <a:schemeClr val="bg1"/>
                  </a:solidFill>
                  <a:prstDash val="solid"/>
                </a:ln>
                <a:solidFill>
                  <a:schemeClr val="tx1"/>
                </a:solidFill>
                <a:effectLst>
                  <a:outerShdw blurRad="12700" dist="38100" dir="2700000" algn="tl" rotWithShape="0">
                    <a:schemeClr val="bg1">
                      <a:lumMod val="50000"/>
                    </a:schemeClr>
                  </a:outerShdw>
                </a:effectLst>
              </a:rPr>
              <a:t>You</a:t>
            </a:r>
            <a:endParaRPr lang="en-IN" sz="7200" b="1" cap="none" spc="0" dirty="0">
              <a:ln w="9525">
                <a:solidFill>
                  <a:schemeClr val="bg1"/>
                </a:solidFill>
                <a:prstDash val="solid"/>
              </a:ln>
              <a:solidFill>
                <a:schemeClr val="tx1"/>
              </a:solidFill>
              <a:effectLst>
                <a:outerShdw blurRad="12700" dist="38100" dir="2700000" algn="tl" rotWithShape="0">
                  <a:schemeClr val="bg1">
                    <a:lumMod val="50000"/>
                  </a:schemeClr>
                </a:outerShdw>
              </a:effectLst>
            </a:endParaRPr>
          </a:p>
        </p:txBody>
      </p:sp>
      <p:sp>
        <p:nvSpPr>
          <p:cNvPr id="2" name="Footer Placeholder 2">
            <a:extLst>
              <a:ext uri="{FF2B5EF4-FFF2-40B4-BE49-F238E27FC236}">
                <a16:creationId xmlns:a16="http://schemas.microsoft.com/office/drawing/2014/main" id="{5F04BB56-DE69-EEBD-005C-DFADD5B689A7}"/>
              </a:ext>
            </a:extLst>
          </p:cNvPr>
          <p:cNvSpPr txBox="1">
            <a:spLocks/>
          </p:cNvSpPr>
          <p:nvPr/>
        </p:nvSpPr>
        <p:spPr>
          <a:xfrm>
            <a:off x="606411" y="560190"/>
            <a:ext cx="7176911" cy="230832"/>
          </a:xfrm>
          <a:prstGeom prst="rect">
            <a:avLst/>
          </a:prstGeom>
        </p:spPr>
        <p:txBody>
          <a:bodyPr vert="horz" lIns="0" tIns="0" rIns="0" bIns="0" rtlCol="0" anchor="t" anchorCtr="0">
            <a:noAutofit/>
          </a:bodyPr>
          <a:lstStyle>
            <a:defPPr>
              <a:defRPr lang="en-US"/>
            </a:defPPr>
            <a:lvl1pPr marL="0" algn="l" defTabSz="914400" rtl="0" eaLnBrk="1" latinLnBrk="0" hangingPunct="1">
              <a:defRPr sz="1500" kern="1200">
                <a:solidFill>
                  <a:srgbClr val="8F9898"/>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PRE 7COM1079-2025  Student Group No: B111</a:t>
            </a:r>
          </a:p>
        </p:txBody>
      </p:sp>
    </p:spTree>
    <p:extLst>
      <p:ext uri="{BB962C8B-B14F-4D97-AF65-F5344CB8AC3E}">
        <p14:creationId xmlns:p14="http://schemas.microsoft.com/office/powerpoint/2010/main" val="3314040529"/>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Props1.xml><?xml version="1.0" encoding="utf-8"?>
<ds:datastoreItem xmlns:ds="http://schemas.openxmlformats.org/officeDocument/2006/customXml" ds:itemID="{91C521DD-2673-4EE6-BB9B-DC5C3320FFBB}">
  <ds:schemaRefs>
    <ds:schemaRef ds:uri="http://schemas.microsoft.com/sharepoint/v3/contenttype/forms"/>
  </ds:schemaRefs>
</ds:datastoreItem>
</file>

<file path=customXml/itemProps2.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77</TotalTime>
  <Words>714</Words>
  <Application>Microsoft Office PowerPoint</Application>
  <PresentationFormat>Widescreen</PresentationFormat>
  <Paragraphs>40</Paragraphs>
  <Slides>7</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Times New Roman</vt:lpstr>
      <vt:lpstr>Herts Theme</vt:lpstr>
      <vt:lpstr>Research Question –  Tutorial Presentation for Feedback Date: 19 – 11 – 2025  </vt:lpstr>
      <vt:lpstr>The columns/variable names you include in your research question. Happiness Score and Economy (GDP per Capita) At least 5 rows of the data :     Tell us how many rows your dataset has. The dataset contains 157 rows (countries).  </vt:lpstr>
      <vt:lpstr>This dataset is interesting to us because : This dataset is interesting to us because it allows us to compare how economic conditions relate to people’s overall happiness across different countries.  Our  Independent variable is: Economy (GDP per Capita) This  Independent variable datatype is : Interval/measurement data (Reason: It is a numerical, continuous variable measured on a meaningful scale.)  Our Dependent variable is: Happiness Score  This Dependent variable datatype is  : Interval/measurement data (Reason: Happiness Score is a numerical, continuous value.)</vt:lpstr>
      <vt:lpstr> “This study investigates whether there is a correlation between Happiness Score and Economy (GDP per Capita) across countries in the 2016 World Happiness dataset. By examining this relationship, we aim to understand whether higher economic prosperity is associated with higher levels of national happiness.”   </vt:lpstr>
      <vt:lpstr>PowerPoint Presentation</vt:lpstr>
      <vt:lpstr>Pearson correlation test results: r = 0.79 p-value &lt; 2.2e-16 n = 157 countries Final Conclusion :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Nithish Babu Gangannagari [Student-PECS]</cp:lastModifiedBy>
  <cp:revision>119</cp:revision>
  <dcterms:created xsi:type="dcterms:W3CDTF">2019-10-01T08:37:56Z</dcterms:created>
  <dcterms:modified xsi:type="dcterms:W3CDTF">2025-11-18T17:42:57Z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