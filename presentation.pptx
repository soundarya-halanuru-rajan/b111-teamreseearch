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89" r:id="rId5"/>
    <p:sldId id="340" r:id="rId6"/>
    <p:sldId id="329" r:id="rId7"/>
    <p:sldId id="336" r:id="rId8"/>
    <p:sldId id="341" r:id="rId9"/>
    <p:sldId id="342" r:id="rId10"/>
    <p:sldId id="34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D14E6-08DF-4727-B0B6-8E7B301767AA}" v="5" dt="2025-11-18T13:18:40.833"/>
    <p1510:client id="{F32A8078-3ADC-47B2-998C-02A067C0899C}" v="26" dt="2025-11-17T20:45:11.9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ADSON DCOSTA" userId="b376d066b8a35b3f" providerId="LiveId" clId="{5E44F80A-A23A-4C0E-9314-EDE890370C0E}"/>
    <pc:docChg chg="undo custSel addSld modSld">
      <pc:chgData name="GLADSON DCOSTA" userId="b376d066b8a35b3f" providerId="LiveId" clId="{5E44F80A-A23A-4C0E-9314-EDE890370C0E}" dt="2025-11-18T13:19:06.060" v="338" actId="14100"/>
      <pc:docMkLst>
        <pc:docMk/>
      </pc:docMkLst>
      <pc:sldChg chg="modSp mod">
        <pc:chgData name="GLADSON DCOSTA" userId="b376d066b8a35b3f" providerId="LiveId" clId="{5E44F80A-A23A-4C0E-9314-EDE890370C0E}" dt="2025-11-18T13:16:53.144" v="321" actId="5793"/>
        <pc:sldMkLst>
          <pc:docMk/>
          <pc:sldMk cId="4148532546" sldId="289"/>
        </pc:sldMkLst>
        <pc:spChg chg="mod">
          <ac:chgData name="GLADSON DCOSTA" userId="b376d066b8a35b3f" providerId="LiveId" clId="{5E44F80A-A23A-4C0E-9314-EDE890370C0E}" dt="2025-11-18T13:16:53.144" v="321" actId="5793"/>
          <ac:spMkLst>
            <pc:docMk/>
            <pc:sldMk cId="4148532546" sldId="289"/>
            <ac:spMk id="2" creationId="{3440AEE4-CC66-FE42-B0C3-2CC7AFD37D1C}"/>
          </ac:spMkLst>
        </pc:spChg>
        <pc:spChg chg="mod">
          <ac:chgData name="GLADSON DCOSTA" userId="b376d066b8a35b3f" providerId="LiveId" clId="{5E44F80A-A23A-4C0E-9314-EDE890370C0E}" dt="2025-11-18T11:45:31.890" v="132" actId="20577"/>
          <ac:spMkLst>
            <pc:docMk/>
            <pc:sldMk cId="4148532546" sldId="289"/>
            <ac:spMk id="3" creationId="{8275DA97-5166-7F4B-BC83-F50AC8BEDCD7}"/>
          </ac:spMkLst>
        </pc:spChg>
        <pc:spChg chg="mod">
          <ac:chgData name="GLADSON DCOSTA" userId="b376d066b8a35b3f" providerId="LiveId" clId="{5E44F80A-A23A-4C0E-9314-EDE890370C0E}" dt="2025-11-18T13:16:27.594" v="296" actId="20577"/>
          <ac:spMkLst>
            <pc:docMk/>
            <pc:sldMk cId="4148532546" sldId="289"/>
            <ac:spMk id="4" creationId="{6E7F4D14-5620-EC41-A86C-6CC3CFD691B4}"/>
          </ac:spMkLst>
        </pc:spChg>
      </pc:sldChg>
      <pc:sldChg chg="modSp mod">
        <pc:chgData name="GLADSON DCOSTA" userId="b376d066b8a35b3f" providerId="LiveId" clId="{5E44F80A-A23A-4C0E-9314-EDE890370C0E}" dt="2025-11-18T13:17:24.467" v="323" actId="2711"/>
        <pc:sldMkLst>
          <pc:docMk/>
          <pc:sldMk cId="1718004908" sldId="329"/>
        </pc:sldMkLst>
        <pc:spChg chg="mod">
          <ac:chgData name="GLADSON DCOSTA" userId="b376d066b8a35b3f" providerId="LiveId" clId="{5E44F80A-A23A-4C0E-9314-EDE890370C0E}" dt="2025-11-18T13:17:24.467" v="323" actId="2711"/>
          <ac:spMkLst>
            <pc:docMk/>
            <pc:sldMk cId="1718004908" sldId="329"/>
            <ac:spMk id="5" creationId="{B3FA3829-F12C-214D-8FBA-7E1A740F65CA}"/>
          </ac:spMkLst>
        </pc:spChg>
      </pc:sldChg>
      <pc:sldChg chg="delSp modSp mod">
        <pc:chgData name="GLADSON DCOSTA" userId="b376d066b8a35b3f" providerId="LiveId" clId="{5E44F80A-A23A-4C0E-9314-EDE890370C0E}" dt="2025-11-18T13:17:46.261" v="324" actId="2711"/>
        <pc:sldMkLst>
          <pc:docMk/>
          <pc:sldMk cId="32494612" sldId="336"/>
        </pc:sldMkLst>
        <pc:spChg chg="mod">
          <ac:chgData name="GLADSON DCOSTA" userId="b376d066b8a35b3f" providerId="LiveId" clId="{5E44F80A-A23A-4C0E-9314-EDE890370C0E}" dt="2025-11-18T13:17:46.261" v="324" actId="2711"/>
          <ac:spMkLst>
            <pc:docMk/>
            <pc:sldMk cId="32494612" sldId="336"/>
            <ac:spMk id="5" creationId="{3440DA25-F620-152B-DE9E-776F7B74DFF0}"/>
          </ac:spMkLst>
        </pc:spChg>
        <pc:spChg chg="del mod">
          <ac:chgData name="GLADSON DCOSTA" userId="b376d066b8a35b3f" providerId="LiveId" clId="{5E44F80A-A23A-4C0E-9314-EDE890370C0E}" dt="2025-11-18T00:07:30.763" v="61" actId="478"/>
          <ac:spMkLst>
            <pc:docMk/>
            <pc:sldMk cId="32494612" sldId="336"/>
            <ac:spMk id="7" creationId="{F7FEA660-7B39-BC91-3B96-7298CCF66DE1}"/>
          </ac:spMkLst>
        </pc:spChg>
      </pc:sldChg>
      <pc:sldChg chg="modSp mod">
        <pc:chgData name="GLADSON DCOSTA" userId="b376d066b8a35b3f" providerId="LiveId" clId="{5E44F80A-A23A-4C0E-9314-EDE890370C0E}" dt="2025-11-18T11:47:18.725" v="159" actId="255"/>
        <pc:sldMkLst>
          <pc:docMk/>
          <pc:sldMk cId="713092616" sldId="340"/>
        </pc:sldMkLst>
        <pc:spChg chg="mod">
          <ac:chgData name="GLADSON DCOSTA" userId="b376d066b8a35b3f" providerId="LiveId" clId="{5E44F80A-A23A-4C0E-9314-EDE890370C0E}" dt="2025-11-18T11:47:18.725" v="159" actId="255"/>
          <ac:spMkLst>
            <pc:docMk/>
            <pc:sldMk cId="713092616" sldId="340"/>
            <ac:spMk id="8" creationId="{6E140EA5-BB03-811F-4631-603A97631914}"/>
          </ac:spMkLst>
        </pc:spChg>
        <pc:picChg chg="mod modCrop">
          <ac:chgData name="GLADSON DCOSTA" userId="b376d066b8a35b3f" providerId="LiveId" clId="{5E44F80A-A23A-4C0E-9314-EDE890370C0E}" dt="2025-11-18T00:03:49.476" v="15" actId="1076"/>
          <ac:picMkLst>
            <pc:docMk/>
            <pc:sldMk cId="713092616" sldId="340"/>
            <ac:picMk id="10" creationId="{3FFA34DC-1405-C5C0-A5DD-2E71D3A34C81}"/>
          </ac:picMkLst>
        </pc:picChg>
      </pc:sldChg>
      <pc:sldChg chg="modSp mod">
        <pc:chgData name="GLADSON DCOSTA" userId="b376d066b8a35b3f" providerId="LiveId" clId="{5E44F80A-A23A-4C0E-9314-EDE890370C0E}" dt="2025-11-18T13:17:53.032" v="325" actId="2711"/>
        <pc:sldMkLst>
          <pc:docMk/>
          <pc:sldMk cId="2952338475" sldId="341"/>
        </pc:sldMkLst>
        <pc:spChg chg="mod">
          <ac:chgData name="GLADSON DCOSTA" userId="b376d066b8a35b3f" providerId="LiveId" clId="{5E44F80A-A23A-4C0E-9314-EDE890370C0E}" dt="2025-11-18T13:17:53.032" v="325" actId="2711"/>
          <ac:spMkLst>
            <pc:docMk/>
            <pc:sldMk cId="2952338475" sldId="341"/>
            <ac:spMk id="2" creationId="{6B64221B-D6D4-E382-A91A-99FF908D5475}"/>
          </ac:spMkLst>
        </pc:spChg>
      </pc:sldChg>
      <pc:sldChg chg="addSp modSp mod">
        <pc:chgData name="GLADSON DCOSTA" userId="b376d066b8a35b3f" providerId="LiveId" clId="{5E44F80A-A23A-4C0E-9314-EDE890370C0E}" dt="2025-11-18T13:19:06.060" v="338" actId="14100"/>
        <pc:sldMkLst>
          <pc:docMk/>
          <pc:sldMk cId="2592644112" sldId="342"/>
        </pc:sldMkLst>
        <pc:spChg chg="add mod">
          <ac:chgData name="GLADSON DCOSTA" userId="b376d066b8a35b3f" providerId="LiveId" clId="{5E44F80A-A23A-4C0E-9314-EDE890370C0E}" dt="2025-11-18T13:19:06.060" v="338" actId="14100"/>
          <ac:spMkLst>
            <pc:docMk/>
            <pc:sldMk cId="2592644112" sldId="342"/>
            <ac:spMk id="2" creationId="{DB436ED9-9785-45C7-A031-0BCCAF2AB584}"/>
          </ac:spMkLst>
        </pc:spChg>
        <pc:spChg chg="mod">
          <ac:chgData name="GLADSON DCOSTA" userId="b376d066b8a35b3f" providerId="LiveId" clId="{5E44F80A-A23A-4C0E-9314-EDE890370C0E}" dt="2025-11-18T13:18:30.621" v="332" actId="21"/>
          <ac:spMkLst>
            <pc:docMk/>
            <pc:sldMk cId="2592644112" sldId="342"/>
            <ac:spMk id="5" creationId="{5F915859-CEB0-1BCD-04EA-B6E8E7EB90AA}"/>
          </ac:spMkLst>
        </pc:spChg>
      </pc:sldChg>
      <pc:sldChg chg="addSp delSp modSp new mod">
        <pc:chgData name="GLADSON DCOSTA" userId="b376d066b8a35b3f" providerId="LiveId" clId="{5E44F80A-A23A-4C0E-9314-EDE890370C0E}" dt="2025-11-18T00:13:50.475" v="118" actId="20577"/>
        <pc:sldMkLst>
          <pc:docMk/>
          <pc:sldMk cId="3314040529" sldId="343"/>
        </pc:sldMkLst>
        <pc:spChg chg="del mod">
          <ac:chgData name="GLADSON DCOSTA" userId="b376d066b8a35b3f" providerId="LiveId" clId="{5E44F80A-A23A-4C0E-9314-EDE890370C0E}" dt="2025-11-18T00:12:22.854" v="101" actId="21"/>
          <ac:spMkLst>
            <pc:docMk/>
            <pc:sldMk cId="3314040529" sldId="343"/>
            <ac:spMk id="2" creationId="{2F5DADAC-3808-AAD0-1C40-8C14734031AB}"/>
          </ac:spMkLst>
        </pc:spChg>
        <pc:spChg chg="del mod">
          <ac:chgData name="GLADSON DCOSTA" userId="b376d066b8a35b3f" providerId="LiveId" clId="{5E44F80A-A23A-4C0E-9314-EDE890370C0E}" dt="2025-11-18T00:11:21.433" v="76" actId="21"/>
          <ac:spMkLst>
            <pc:docMk/>
            <pc:sldMk cId="3314040529" sldId="343"/>
            <ac:spMk id="5" creationId="{9012332B-2873-34B1-3503-C135D4FBAD35}"/>
          </ac:spMkLst>
        </pc:spChg>
        <pc:spChg chg="add del mod">
          <ac:chgData name="GLADSON DCOSTA" userId="b376d066b8a35b3f" providerId="LiveId" clId="{5E44F80A-A23A-4C0E-9314-EDE890370C0E}" dt="2025-11-18T00:13:04.925" v="111" actId="478"/>
          <ac:spMkLst>
            <pc:docMk/>
            <pc:sldMk cId="3314040529" sldId="343"/>
            <ac:spMk id="6" creationId="{9E7E294F-0CC9-E8D3-6623-B214AEEFDA47}"/>
          </ac:spMkLst>
        </pc:spChg>
        <pc:spChg chg="add del mod">
          <ac:chgData name="GLADSON DCOSTA" userId="b376d066b8a35b3f" providerId="LiveId" clId="{5E44F80A-A23A-4C0E-9314-EDE890370C0E}" dt="2025-11-18T00:13:04.928" v="113"/>
          <ac:spMkLst>
            <pc:docMk/>
            <pc:sldMk cId="3314040529" sldId="343"/>
            <ac:spMk id="7" creationId="{710E02E1-8832-64E7-74D4-05A35D409883}"/>
          </ac:spMkLst>
        </pc:spChg>
        <pc:spChg chg="add mod">
          <ac:chgData name="GLADSON DCOSTA" userId="b376d066b8a35b3f" providerId="LiveId" clId="{5E44F80A-A23A-4C0E-9314-EDE890370C0E}" dt="2025-11-18T00:13:50.475" v="118" actId="20577"/>
          <ac:spMkLst>
            <pc:docMk/>
            <pc:sldMk cId="3314040529" sldId="343"/>
            <ac:spMk id="9" creationId="{6D670FE0-2AA4-66DA-F27C-C77E4E379B4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18/11/2025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19 – 11 – 2025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908288"/>
            <a:ext cx="11308104" cy="360000"/>
          </a:xfrm>
        </p:spPr>
        <p:txBody>
          <a:bodyPr/>
          <a:lstStyle/>
          <a:p>
            <a:r>
              <a:rPr lang="en-US" sz="2000" dirty="0"/>
              <a:t>Group Name:   B111                                  Name of Student Presenting: Soundarya Halanuru Rajan</a:t>
            </a:r>
            <a:r>
              <a:rPr lang="en-GB" sz="2000" dirty="0"/>
              <a:t>	</a:t>
            </a:r>
            <a:br>
              <a:rPr lang="en-GB" sz="2000" dirty="0"/>
            </a:br>
            <a:br>
              <a:rPr lang="en-GB" sz="2000" dirty="0"/>
            </a:br>
            <a:r>
              <a:rPr lang="en-GB" sz="2000" dirty="0"/>
              <a:t>		 						  </a:t>
            </a:r>
          </a:p>
          <a:p>
            <a:endParaRPr lang="en-US" sz="2000" dirty="0"/>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1113935" cy="1499616"/>
          </a:xfrm>
        </p:spPr>
        <p:txBody>
          <a:bodyPr/>
          <a:lstStyle/>
          <a:p>
            <a:r>
              <a:rPr lang="en-GB" dirty="0"/>
              <a:t>7COM1079-2025  Student Group No: B111                   Names of Student Attendees : Soundarya Halanuru Rajan – 23109295</a:t>
            </a:r>
          </a:p>
          <a:p>
            <a:r>
              <a:rPr lang="en-GB" dirty="0"/>
              <a:t>                                                    					                Muhammad Farooqi - 23108251</a:t>
            </a:r>
          </a:p>
          <a:p>
            <a:r>
              <a:rPr lang="en-GB" dirty="0"/>
              <a:t>							                Sangam Balakrishna - 23113892									                Nithish - </a:t>
            </a:r>
          </a:p>
          <a:p>
            <a:r>
              <a:rPr lang="en-GB" dirty="0"/>
              <a:t>							                Pranay </a:t>
            </a:r>
            <a:r>
              <a:rPr lang="en-GB" dirty="0" err="1"/>
              <a:t>nani</a:t>
            </a:r>
            <a:r>
              <a:rPr lang="en-GB" dirty="0"/>
              <a:t> - </a:t>
            </a:r>
          </a:p>
          <a:p>
            <a:r>
              <a:rPr lang="en-GB" dirty="0"/>
              <a:t>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B111</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859179" y="1674146"/>
            <a:ext cx="9965844" cy="2649857"/>
          </a:xfrm>
        </p:spPr>
        <p:txBody>
          <a:bodyPr>
            <a:normAutofit fontScale="90000"/>
          </a:bodyPr>
          <a:lstStyle/>
          <a:p>
            <a:pPr marL="742950" indent="-742950">
              <a:lnSpc>
                <a:spcPts val="2880"/>
              </a:lnSpc>
              <a:spcBef>
                <a:spcPts val="0"/>
              </a:spcBef>
              <a:spcAft>
                <a:spcPts val="992"/>
              </a:spcAft>
              <a:buAutoNum type="arabicPeriod"/>
            </a:pPr>
            <a:r>
              <a:rPr lang="en-GB" sz="2000" dirty="0">
                <a:solidFill>
                  <a:srgbClr val="FF0000"/>
                </a:solidFill>
                <a:latin typeface="Times New Roman" panose="02020603050405020304" pitchFamily="18" charset="0"/>
                <a:cs typeface="Times New Roman" panose="02020603050405020304" pitchFamily="18" charset="0"/>
              </a:rPr>
              <a:t>The columns/variable names you include in your research question.</a:t>
            </a:r>
            <a:br>
              <a:rPr lang="en-GB" sz="2000" dirty="0">
                <a:solidFill>
                  <a:srgbClr val="FF0000"/>
                </a:solidFill>
                <a:latin typeface="Times New Roman" panose="02020603050405020304" pitchFamily="18" charset="0"/>
                <a:cs typeface="Times New Roman" panose="02020603050405020304" pitchFamily="18" charset="0"/>
              </a:rPr>
            </a:br>
            <a:r>
              <a:rPr lang="en-GB" sz="2200" b="0" dirty="0">
                <a:latin typeface="Times New Roman" panose="02020603050405020304" pitchFamily="18" charset="0"/>
                <a:cs typeface="Times New Roman" panose="02020603050405020304" pitchFamily="18" charset="0"/>
              </a:rPr>
              <a:t>Happiness Score and Economy (GDP per Capita)</a:t>
            </a:r>
            <a:endParaRPr lang="en-US" sz="2200" b="0" dirty="0">
              <a:latin typeface="Times New Roman" panose="02020603050405020304" pitchFamily="18" charset="0"/>
              <a:cs typeface="Times New Roman" panose="02020603050405020304" pitchFamily="18" charset="0"/>
            </a:endParaRPr>
          </a:p>
          <a:p>
            <a:pPr marL="742950" indent="-742950">
              <a:lnSpc>
                <a:spcPts val="2880"/>
              </a:lnSpc>
              <a:spcBef>
                <a:spcPts val="0"/>
              </a:spcBef>
              <a:spcAft>
                <a:spcPts val="992"/>
              </a:spcAft>
              <a:buAutoNum type="arabicPeriod"/>
            </a:pPr>
            <a:r>
              <a:rPr lang="en-GB" sz="2000" dirty="0">
                <a:solidFill>
                  <a:srgbClr val="FF0000"/>
                </a:solidFill>
                <a:latin typeface="Times New Roman" panose="02020603050405020304" pitchFamily="18" charset="0"/>
                <a:cs typeface="Times New Roman" panose="02020603050405020304" pitchFamily="18" charset="0"/>
              </a:rPr>
              <a:t>At least 5 rows of the data :</a:t>
            </a:r>
            <a:br>
              <a:rPr lang="en-GB" sz="3100" dirty="0">
                <a:solidFill>
                  <a:srgbClr val="FF0000"/>
                </a:solidFill>
                <a:latin typeface="Times New Roman" panose="02020603050405020304" pitchFamily="18" charset="0"/>
                <a:cs typeface="Times New Roman" panose="02020603050405020304" pitchFamily="18" charset="0"/>
              </a:rPr>
            </a:br>
            <a:br>
              <a:rPr lang="en-GB" sz="3100" dirty="0">
                <a:solidFill>
                  <a:srgbClr val="FF0000"/>
                </a:solidFill>
                <a:latin typeface="Times New Roman" panose="02020603050405020304" pitchFamily="18" charset="0"/>
                <a:cs typeface="Times New Roman" panose="02020603050405020304" pitchFamily="18" charset="0"/>
              </a:rPr>
            </a:br>
            <a:br>
              <a:rPr lang="en-GB" sz="3100" dirty="0">
                <a:solidFill>
                  <a:srgbClr val="FF0000"/>
                </a:solidFill>
                <a:latin typeface="Times New Roman" panose="02020603050405020304" pitchFamily="18" charset="0"/>
                <a:cs typeface="Times New Roman" panose="02020603050405020304" pitchFamily="18" charset="0"/>
              </a:rPr>
            </a:br>
            <a:br>
              <a:rPr lang="en-GB" sz="3100" dirty="0">
                <a:solidFill>
                  <a:srgbClr val="FF0000"/>
                </a:solidFill>
                <a:latin typeface="Times New Roman" panose="02020603050405020304" pitchFamily="18" charset="0"/>
                <a:cs typeface="Times New Roman" panose="02020603050405020304" pitchFamily="18" charset="0"/>
              </a:rPr>
            </a:br>
            <a:endParaRPr lang="en-US" sz="3100" b="0" dirty="0">
              <a:solidFill>
                <a:srgbClr val="FF0000"/>
              </a:solidFill>
              <a:latin typeface="Times New Roman" panose="02020603050405020304" pitchFamily="18" charset="0"/>
              <a:cs typeface="Times New Roman" panose="02020603050405020304" pitchFamily="18" charset="0"/>
            </a:endParaRPr>
          </a:p>
          <a:p>
            <a:pPr marL="742950" indent="-742950">
              <a:lnSpc>
                <a:spcPts val="2880"/>
              </a:lnSpc>
              <a:spcBef>
                <a:spcPts val="0"/>
              </a:spcBef>
              <a:spcAft>
                <a:spcPts val="992"/>
              </a:spcAft>
              <a:buAutoNum type="arabicPeriod"/>
            </a:pPr>
            <a:r>
              <a:rPr lang="en-GB" sz="2000" dirty="0">
                <a:solidFill>
                  <a:srgbClr val="FF0000"/>
                </a:solidFill>
                <a:latin typeface="Times New Roman" panose="02020603050405020304" pitchFamily="18" charset="0"/>
                <a:cs typeface="Times New Roman" panose="02020603050405020304" pitchFamily="18" charset="0"/>
              </a:rPr>
              <a:t>Tell us how many rows your dataset has.</a:t>
            </a:r>
            <a:br>
              <a:rPr lang="en-GB" sz="2000" dirty="0">
                <a:solidFill>
                  <a:srgbClr val="FF0000"/>
                </a:solidFill>
                <a:latin typeface="Times New Roman" panose="02020603050405020304" pitchFamily="18" charset="0"/>
                <a:cs typeface="Times New Roman" panose="02020603050405020304" pitchFamily="18" charset="0"/>
              </a:rPr>
            </a:br>
            <a:r>
              <a:rPr lang="en-GB" sz="2200" b="0" dirty="0">
                <a:latin typeface="Times New Roman" panose="02020603050405020304" pitchFamily="18" charset="0"/>
                <a:cs typeface="Times New Roman" panose="02020603050405020304" pitchFamily="18" charset="0"/>
              </a:rPr>
              <a:t>The dataset contains 157 rows (countries).</a:t>
            </a:r>
            <a:br>
              <a:rPr lang="en-GB" sz="2000" dirty="0">
                <a:solidFill>
                  <a:srgbClr val="FF0000"/>
                </a:solidFill>
                <a:latin typeface="Times New Roman" panose="02020603050405020304" pitchFamily="18" charset="0"/>
                <a:cs typeface="Times New Roman" panose="02020603050405020304" pitchFamily="18" charset="0"/>
              </a:rPr>
            </a:br>
            <a:endParaRPr lang="en-GB" sz="2000"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0D065D8-D7AC-C75B-AAB7-77DED644DA40}"/>
              </a:ext>
            </a:extLst>
          </p:cNvPr>
          <p:cNvSpPr>
            <a:spLocks noChangeArrowheads="1"/>
          </p:cNvSpPr>
          <p:nvPr/>
        </p:nvSpPr>
        <p:spPr bwMode="auto">
          <a:xfrm>
            <a:off x="192024" y="126230"/>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AutoShape 3">
            <a:extLst>
              <a:ext uri="{FF2B5EF4-FFF2-40B4-BE49-F238E27FC236}">
                <a16:creationId xmlns:a16="http://schemas.microsoft.com/office/drawing/2014/main" id="{9F9B8B46-5348-C6C5-50F5-3F192C88684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descr="A screenshot of a computer&#10;&#10;AI-generated content may be incorrect.">
            <a:extLst>
              <a:ext uri="{FF2B5EF4-FFF2-40B4-BE49-F238E27FC236}">
                <a16:creationId xmlns:a16="http://schemas.microsoft.com/office/drawing/2014/main" id="{3FFA34DC-1405-C5C0-A5DD-2E71D3A34C81}"/>
              </a:ext>
            </a:extLst>
          </p:cNvPr>
          <p:cNvPicPr>
            <a:picLocks noChangeAspect="1"/>
          </p:cNvPicPr>
          <p:nvPr/>
        </p:nvPicPr>
        <p:blipFill>
          <a:blip r:embed="rId3">
            <a:extLst>
              <a:ext uri="{28A0092B-C50C-407E-A947-70E740481C1C}">
                <a14:useLocalDpi xmlns:a14="http://schemas.microsoft.com/office/drawing/2010/main" val="0"/>
              </a:ext>
            </a:extLst>
          </a:blip>
          <a:srcRect r="26547" b="17283"/>
          <a:stretch>
            <a:fillRect/>
          </a:stretch>
        </p:blipFill>
        <p:spPr>
          <a:xfrm>
            <a:off x="1709929" y="2837747"/>
            <a:ext cx="4919472" cy="1706762"/>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rgbClr val="FF0000"/>
                </a:solidFill>
              </a:rPr>
              <a:t>(DS283 , 2016.csv(Happiness Score )</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B111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dirty="0">
                <a:latin typeface="Times New Roman" panose="02020603050405020304" pitchFamily="18" charset="0"/>
                <a:cs typeface="Times New Roman" panose="02020603050405020304" pitchFamily="18" charset="0"/>
              </a:rPr>
              <a:t>This dataset is interesting to us because </a:t>
            </a:r>
            <a:r>
              <a:rPr lang="en-US" sz="2400" dirty="0">
                <a:solidFill>
                  <a:srgbClr val="FF0000"/>
                </a:solidFill>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t>
            </a:r>
            <a:r>
              <a:rPr lang="en-GB" sz="2400" b="0" dirty="0">
                <a:latin typeface="Times New Roman" panose="02020603050405020304" pitchFamily="18" charset="0"/>
                <a:cs typeface="Times New Roman" panose="02020603050405020304" pitchFamily="18" charset="0"/>
              </a:rPr>
              <a:t>This dataset is interesting to us because it allows us to compare how economic conditions relate to people’s overall happiness across different countries.</a:t>
            </a:r>
            <a:br>
              <a:rPr lang="en-GB"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Our  Independent variable is: </a:t>
            </a:r>
            <a:r>
              <a:rPr lang="en-IN" sz="2400" b="0" dirty="0">
                <a:latin typeface="Times New Roman" panose="02020603050405020304" pitchFamily="18" charset="0"/>
                <a:cs typeface="Times New Roman" panose="02020603050405020304" pitchFamily="18" charset="0"/>
              </a:rPr>
              <a:t>Economy (GDP per Capita)</a:t>
            </a:r>
            <a:br>
              <a:rPr lang="en-US" sz="2400" b="0" dirty="0">
                <a:latin typeface="Times New Roman" panose="02020603050405020304" pitchFamily="18" charset="0"/>
                <a:cs typeface="Times New Roman" panose="02020603050405020304" pitchFamily="18" charset="0"/>
              </a:rPr>
            </a:br>
            <a:r>
              <a:rPr lang="en-US" sz="2400" b="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Independent variable datatype is : </a:t>
            </a:r>
            <a:r>
              <a:rPr lang="en-GB" sz="2400" b="0" dirty="0">
                <a:latin typeface="Times New Roman" panose="02020603050405020304" pitchFamily="18" charset="0"/>
                <a:cs typeface="Times New Roman" panose="02020603050405020304" pitchFamily="18" charset="0"/>
              </a:rPr>
              <a:t>Interval/measurement data</a:t>
            </a:r>
            <a:br>
              <a:rPr lang="en-GB" sz="2400" b="0" dirty="0">
                <a:latin typeface="Times New Roman" panose="02020603050405020304" pitchFamily="18" charset="0"/>
                <a:cs typeface="Times New Roman" panose="02020603050405020304" pitchFamily="18" charset="0"/>
              </a:rPr>
            </a:br>
            <a:r>
              <a:rPr lang="en-GB" sz="2400" b="0"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Reason: </a:t>
            </a:r>
            <a:r>
              <a:rPr lang="en-GB" sz="2400" b="0" dirty="0">
                <a:latin typeface="Times New Roman" panose="02020603050405020304" pitchFamily="18" charset="0"/>
                <a:cs typeface="Times New Roman" panose="02020603050405020304" pitchFamily="18" charset="0"/>
              </a:rPr>
              <a:t>It is a numerical, continuous variable measured on a meaningful scale.)</a:t>
            </a:r>
            <a:br>
              <a:rPr lang="en-GB"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Our Dependent variable is: </a:t>
            </a:r>
            <a:r>
              <a:rPr lang="en-IN" sz="2400" b="0" dirty="0">
                <a:latin typeface="Times New Roman" panose="02020603050405020304" pitchFamily="18" charset="0"/>
                <a:cs typeface="Times New Roman" panose="02020603050405020304" pitchFamily="18" charset="0"/>
              </a:rPr>
              <a:t>Happiness Score</a:t>
            </a:r>
            <a:br>
              <a:rPr lang="en-US" sz="2400" b="0" dirty="0">
                <a:latin typeface="Times New Roman" panose="02020603050405020304" pitchFamily="18" charset="0"/>
                <a:cs typeface="Times New Roman" panose="02020603050405020304" pitchFamily="18" charset="0"/>
              </a:rPr>
            </a:b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Dependent variable datatype is  </a:t>
            </a:r>
            <a:r>
              <a:rPr lang="en-US" sz="2400" b="0" dirty="0">
                <a:latin typeface="Times New Roman" panose="02020603050405020304" pitchFamily="18" charset="0"/>
                <a:cs typeface="Times New Roman" panose="02020603050405020304" pitchFamily="18" charset="0"/>
              </a:rPr>
              <a:t>: </a:t>
            </a:r>
            <a:r>
              <a:rPr lang="en-GB" sz="2400" b="0" dirty="0">
                <a:latin typeface="Times New Roman" panose="02020603050405020304" pitchFamily="18" charset="0"/>
                <a:cs typeface="Times New Roman" panose="02020603050405020304" pitchFamily="18" charset="0"/>
              </a:rPr>
              <a:t>Interval/measurement data</a:t>
            </a:r>
            <a:br>
              <a:rPr lang="en-GB" sz="2400" dirty="0">
                <a:latin typeface="Times New Roman" panose="02020603050405020304" pitchFamily="18" charset="0"/>
                <a:cs typeface="Times New Roman" panose="02020603050405020304" pitchFamily="18" charset="0"/>
              </a:rPr>
            </a:br>
            <a:r>
              <a:rPr lang="en-GB" sz="2400" b="0"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Reason: </a:t>
            </a:r>
            <a:r>
              <a:rPr lang="en-GB" sz="2400" b="0" dirty="0">
                <a:latin typeface="Times New Roman" panose="02020603050405020304" pitchFamily="18" charset="0"/>
                <a:cs typeface="Times New Roman" panose="02020603050405020304" pitchFamily="18" charset="0"/>
              </a:rPr>
              <a:t>Happiness Score is a numerical, continuous value.)</a:t>
            </a:r>
            <a:endParaRPr lang="en-US" sz="2400" b="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43026" y="1820762"/>
            <a:ext cx="10640594" cy="2678085"/>
          </a:xfrm>
        </p:spPr>
        <p:txBody>
          <a:bodyPr>
            <a:noAutofit/>
          </a:bodyPr>
          <a:lstStyle/>
          <a:p>
            <a:pPr>
              <a:lnSpc>
                <a:spcPct val="100000"/>
              </a:lnSpc>
            </a:pPr>
            <a:r>
              <a:rPr lang="en-IE" sz="2400" dirty="0">
                <a:effectLst/>
                <a:latin typeface="Times New Roman" panose="02020603050405020304" pitchFamily="18" charset="0"/>
                <a:ea typeface="Calibri" panose="020F0502020204030204" pitchFamily="34" charset="0"/>
                <a:cs typeface="Times New Roman" panose="02020603050405020304" pitchFamily="18" charset="0"/>
              </a:rPr>
              <a:t>Template </a:t>
            </a:r>
            <a:r>
              <a:rPr lang="en-IE" sz="2400" baseline="30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E"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E" sz="2400" b="0" dirty="0">
                <a:effectLst/>
                <a:latin typeface="Times New Roman" panose="02020603050405020304" pitchFamily="18" charset="0"/>
                <a:ea typeface="Calibri" panose="020F0502020204030204" pitchFamily="34" charset="0"/>
                <a:cs typeface="Times New Roman" panose="02020603050405020304" pitchFamily="18" charset="0"/>
              </a:rPr>
              <a:t>Interval/Ordinal vs Interval/Ordinal: “Is there a correlation between “</a:t>
            </a:r>
            <a:r>
              <a:rPr lang="en-IN" sz="2400" b="0" dirty="0">
                <a:latin typeface="Times New Roman" panose="02020603050405020304" pitchFamily="18" charset="0"/>
                <a:cs typeface="Times New Roman" panose="02020603050405020304" pitchFamily="18" charset="0"/>
              </a:rPr>
              <a:t>Happiness Score” </a:t>
            </a:r>
            <a:r>
              <a:rPr lang="en-IE" sz="2400" b="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IN" sz="2400" b="0" dirty="0">
                <a:latin typeface="Times New Roman" panose="02020603050405020304" pitchFamily="18" charset="0"/>
                <a:cs typeface="Times New Roman" panose="02020603050405020304" pitchFamily="18" charset="0"/>
              </a:rPr>
              <a:t>Economy (GDP per Capita)”</a:t>
            </a:r>
            <a:r>
              <a:rPr lang="en-IE" sz="2400" b="0" dirty="0">
                <a:latin typeface="Times New Roman" panose="02020603050405020304" pitchFamily="18" charset="0"/>
                <a:cs typeface="Times New Roman" panose="02020603050405020304" pitchFamily="18" charset="0"/>
              </a:rPr>
              <a:t> ?</a:t>
            </a:r>
            <a:br>
              <a:rPr lang="en-IE" sz="2400" b="0" dirty="0">
                <a:effectLst/>
                <a:latin typeface="Times New Roman" panose="02020603050405020304" pitchFamily="18" charset="0"/>
                <a:ea typeface="Calibri" panose="020F0502020204030204" pitchFamily="34" charset="0"/>
                <a:cs typeface="Times New Roman" panose="02020603050405020304" pitchFamily="18" charset="0"/>
              </a:rPr>
            </a:br>
            <a:br>
              <a:rPr lang="en-IE" sz="2400" b="0" dirty="0">
                <a:effectLst/>
                <a:latin typeface="Times New Roman" panose="02020603050405020304" pitchFamily="18" charset="0"/>
                <a:ea typeface="Calibri" panose="020F0502020204030204" pitchFamily="34" charset="0"/>
                <a:cs typeface="Times New Roman" panose="02020603050405020304" pitchFamily="18" charset="0"/>
              </a:rPr>
            </a:br>
            <a:r>
              <a:rPr lang="en-GB" sz="2400" b="0" dirty="0">
                <a:effectLst/>
                <a:latin typeface="Times New Roman" panose="02020603050405020304" pitchFamily="18" charset="0"/>
                <a:ea typeface="Calibri" panose="020F0502020204030204" pitchFamily="34" charset="0"/>
                <a:cs typeface="Times New Roman" panose="02020603050405020304" pitchFamily="18" charset="0"/>
              </a:rPr>
              <a:t>“</a:t>
            </a:r>
            <a:r>
              <a:rPr lang="en-GB" sz="2400" b="0" dirty="0">
                <a:latin typeface="Times New Roman" panose="02020603050405020304" pitchFamily="18" charset="0"/>
                <a:cs typeface="Times New Roman" panose="02020603050405020304" pitchFamily="18" charset="0"/>
              </a:rPr>
              <a:t>This study investigates whether there is a correlation between Happiness Score and Economy (GDP per Capita) across countries in the 2016 World Happiness dataset. By examining this relationship, we aim to understand whether higher economic prosperity is associated with higher levels of national happiness.”</a:t>
            </a:r>
            <a:br>
              <a:rPr lang="en-IE" sz="2400" dirty="0">
                <a:effectLst/>
                <a:latin typeface="Times New Roman" panose="02020603050405020304" pitchFamily="18" charset="0"/>
                <a:ea typeface="Calibri" panose="020F0502020204030204" pitchFamily="34" charset="0"/>
                <a:cs typeface="Times New Roman" panose="02020603050405020304" pitchFamily="18" charset="0"/>
              </a:rPr>
            </a:br>
            <a:br>
              <a:rPr lang="en-IE" sz="2400" dirty="0">
                <a:effectLst/>
                <a:latin typeface="Times New Roman" panose="02020603050405020304" pitchFamily="18" charset="0"/>
                <a:ea typeface="Calibri" panose="020F0502020204030204" pitchFamily="34" charset="0"/>
                <a:cs typeface="Times New Roman" panose="02020603050405020304" pitchFamily="18" charset="0"/>
              </a:rPr>
            </a:br>
            <a:br>
              <a:rPr lang="en-GB" sz="2400" dirty="0">
                <a:effectLst/>
                <a:latin typeface="Times New Roman" panose="02020603050405020304" pitchFamily="18" charset="0"/>
                <a:ea typeface="Calibri" panose="020F0502020204030204" pitchFamily="34" charset="0"/>
                <a:cs typeface="Times New Roman" panose="02020603050405020304" pitchFamily="18" charset="0"/>
              </a:rPr>
            </a:br>
            <a:endParaRPr lang="en-GB"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630947" y="1326791"/>
            <a:ext cx="10406581" cy="1391600"/>
          </a:xfrm>
        </p:spPr>
        <p:txBody>
          <a:bodyPr vert="horz" lIns="0" tIns="0" rIns="0" bIns="0" rtlCol="0" anchor="t">
            <a:noAutofit/>
          </a:bodyPr>
          <a:lstStyle/>
          <a:p>
            <a:pPr>
              <a:lnSpc>
                <a:spcPct val="100000"/>
              </a:lnSpc>
            </a:pPr>
            <a:r>
              <a:rPr lang="en-GB" sz="2400" dirty="0">
                <a:latin typeface="Times New Roman" panose="02020603050405020304" pitchFamily="18" charset="0"/>
                <a:cs typeface="Times New Roman" panose="02020603050405020304" pitchFamily="18" charset="0"/>
              </a:rPr>
              <a:t>Hypotheses</a:t>
            </a:r>
            <a:r>
              <a:rPr lang="en-GB" sz="2400" b="0" dirty="0">
                <a:latin typeface="Times New Roman" panose="02020603050405020304" pitchFamily="18" charset="0"/>
                <a:cs typeface="Times New Roman" panose="02020603050405020304" pitchFamily="18" charset="0"/>
              </a:rPr>
              <a:t>:</a:t>
            </a:r>
          </a:p>
          <a:p>
            <a:pPr>
              <a:lnSpc>
                <a:spcPct val="100000"/>
              </a:lnSpc>
            </a:pPr>
            <a:r>
              <a:rPr lang="en-GB" sz="2000" b="0" dirty="0">
                <a:solidFill>
                  <a:srgbClr val="FF0000"/>
                </a:solidFill>
                <a:latin typeface="Times New Roman" panose="02020603050405020304" pitchFamily="18" charset="0"/>
                <a:cs typeface="Times New Roman" panose="02020603050405020304" pitchFamily="18" charset="0"/>
              </a:rPr>
              <a:t>Null hypothesis (H</a:t>
            </a:r>
            <a:r>
              <a:rPr lang="en-GB" sz="2000" b="0" baseline="-25000" dirty="0">
                <a:solidFill>
                  <a:srgbClr val="FF0000"/>
                </a:solidFill>
                <a:latin typeface="Times New Roman" panose="02020603050405020304" pitchFamily="18" charset="0"/>
                <a:cs typeface="Times New Roman" panose="02020603050405020304" pitchFamily="18" charset="0"/>
              </a:rPr>
              <a:t>0</a:t>
            </a:r>
            <a:r>
              <a:rPr lang="en-GB" sz="2000" b="0" dirty="0">
                <a:solidFill>
                  <a:srgbClr val="FF0000"/>
                </a:solidFill>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There is no correlation between Happiness Score and Economy (GDP per Capita).</a:t>
            </a:r>
            <a:endParaRPr lang="en-GB" sz="2000" b="0" dirty="0">
              <a:solidFill>
                <a:srgbClr val="FF0000"/>
              </a:solidFill>
              <a:latin typeface="Times New Roman" panose="02020603050405020304" pitchFamily="18" charset="0"/>
              <a:cs typeface="Times New Roman" panose="02020603050405020304" pitchFamily="18" charset="0"/>
            </a:endParaRPr>
          </a:p>
          <a:p>
            <a:pPr>
              <a:lnSpc>
                <a:spcPct val="100000"/>
              </a:lnSpc>
            </a:pPr>
            <a:r>
              <a:rPr lang="en-GB" sz="2000" b="0" dirty="0">
                <a:solidFill>
                  <a:srgbClr val="FF0000"/>
                </a:solidFill>
                <a:latin typeface="Times New Roman" panose="02020603050405020304" pitchFamily="18" charset="0"/>
                <a:cs typeface="Times New Roman" panose="02020603050405020304" pitchFamily="18" charset="0"/>
              </a:rPr>
              <a:t>Alt hypothesis (H</a:t>
            </a:r>
            <a:r>
              <a:rPr lang="en-GB" sz="2000" b="0" baseline="-25000" dirty="0">
                <a:solidFill>
                  <a:srgbClr val="FF0000"/>
                </a:solidFill>
                <a:latin typeface="Times New Roman" panose="02020603050405020304" pitchFamily="18" charset="0"/>
                <a:cs typeface="Times New Roman" panose="02020603050405020304" pitchFamily="18" charset="0"/>
              </a:rPr>
              <a:t>1</a:t>
            </a:r>
            <a:r>
              <a:rPr lang="en-GB" sz="2000" b="0" dirty="0">
                <a:solidFill>
                  <a:srgbClr val="FF0000"/>
                </a:solidFill>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There is a correlation between Happiness Score and Economy (GDP per Capita).</a:t>
            </a:r>
            <a:endParaRPr lang="en-GB" sz="2000" b="0"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539026" y="5096297"/>
            <a:ext cx="7811780" cy="1477328"/>
          </a:xfrm>
          <a:prstGeom prst="rect">
            <a:avLst/>
          </a:prstGeom>
          <a:noFill/>
        </p:spPr>
        <p:txBody>
          <a:bodyPr wrap="square" lIns="91440" tIns="45720" rIns="91440" bIns="45720" anchor="t">
            <a:spAutoFit/>
          </a:bodyPr>
          <a:lstStyle/>
          <a:p>
            <a:r>
              <a:rPr lang="en-GB" dirty="0"/>
              <a:t>L</a:t>
            </a:r>
            <a:r>
              <a:rPr lang="en-GB" sz="1800" b="0" dirty="0"/>
              <a:t>eave the hypotheses as </a:t>
            </a:r>
            <a:r>
              <a:rPr lang="en-GB" dirty="0"/>
              <a:t>two </a:t>
            </a:r>
            <a:r>
              <a:rPr lang="en-GB" sz="1800" b="0" dirty="0"/>
              <a:t>statements for now – after your </a:t>
            </a:r>
            <a:r>
              <a:rPr lang="en-GB" dirty="0"/>
              <a:t>statistical </a:t>
            </a:r>
            <a:r>
              <a:rPr lang="en-GB" sz="1800" b="0" dirty="0"/>
              <a:t>analysis </a:t>
            </a:r>
            <a:r>
              <a:rPr lang="en-GB" dirty="0"/>
              <a:t>test, </a:t>
            </a:r>
            <a:r>
              <a:rPr lang="en-GB" sz="1800" b="0" dirty="0"/>
              <a:t>you </a:t>
            </a:r>
            <a:r>
              <a:rPr lang="en-GB" dirty="0"/>
              <a:t>will </a:t>
            </a:r>
            <a:r>
              <a:rPr lang="en-GB" sz="1800" b="0" dirty="0"/>
              <a:t>choose one or the other.</a:t>
            </a:r>
            <a:r>
              <a:rPr lang="en-GB" dirty="0"/>
              <a:t> (</a:t>
            </a:r>
            <a:r>
              <a:rPr lang="en-GB" i="1" dirty="0"/>
              <a:t>You will report: "We fail to reject the null hypothesis" with no significant result, or if you do have significance [p-value = &lt; 0.05] you can state "We reject the null hypothesis".   More guidance on hypothesis testing is given in the lectures</a:t>
            </a:r>
            <a:r>
              <a:rPr lang="en-GB" dirty="0"/>
              <a:t>.)</a:t>
            </a:r>
            <a:endParaRPr lang="en-GB" dirty="0">
              <a:cs typeface="Arial"/>
            </a:endParaRP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26C7A7-5FCA-FEB3-9788-33A11681562E}"/>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B3DA1712-B1FE-EA27-F919-8CB61363B42F}"/>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5" name="Title 4">
            <a:extLst>
              <a:ext uri="{FF2B5EF4-FFF2-40B4-BE49-F238E27FC236}">
                <a16:creationId xmlns:a16="http://schemas.microsoft.com/office/drawing/2014/main" id="{5F915859-CEB0-1BCD-04EA-B6E8E7EB90AA}"/>
              </a:ext>
            </a:extLst>
          </p:cNvPr>
          <p:cNvSpPr>
            <a:spLocks noGrp="1"/>
          </p:cNvSpPr>
          <p:nvPr>
            <p:ph type="ctrTitle"/>
          </p:nvPr>
        </p:nvSpPr>
        <p:spPr>
          <a:xfrm>
            <a:off x="896643" y="1086120"/>
            <a:ext cx="10031157" cy="2160000"/>
          </a:xfrm>
        </p:spPr>
        <p:txBody>
          <a:bodyPr>
            <a:normAutofit fontScale="90000"/>
          </a:bodyPr>
          <a:lstStyle/>
          <a:p>
            <a:pPr>
              <a:lnSpc>
                <a:spcPct val="150000"/>
              </a:lnSpc>
            </a:pPr>
            <a:r>
              <a:rPr lang="en-GB" sz="2000" dirty="0">
                <a:latin typeface="Times New Roman" panose="02020603050405020304" pitchFamily="18" charset="0"/>
                <a:cs typeface="Times New Roman" panose="02020603050405020304" pitchFamily="18" charset="0"/>
              </a:rPr>
              <a:t>Pearson correlation test results:</a:t>
            </a:r>
            <a:br>
              <a:rPr lang="en-GB" sz="2000" dirty="0">
                <a:latin typeface="Times New Roman" panose="02020603050405020304" pitchFamily="18" charset="0"/>
                <a:cs typeface="Times New Roman" panose="02020603050405020304" pitchFamily="18" charset="0"/>
              </a:rPr>
            </a:br>
            <a:r>
              <a:rPr lang="en-GB" sz="2000" b="0" i="1" dirty="0">
                <a:latin typeface="Times New Roman" panose="02020603050405020304" pitchFamily="18" charset="0"/>
                <a:cs typeface="Times New Roman" panose="02020603050405020304" pitchFamily="18" charset="0"/>
              </a:rPr>
              <a:t>r</a:t>
            </a:r>
            <a:r>
              <a:rPr lang="en-GB" sz="2000" b="0" dirty="0">
                <a:latin typeface="Times New Roman" panose="02020603050405020304" pitchFamily="18" charset="0"/>
                <a:cs typeface="Times New Roman" panose="02020603050405020304" pitchFamily="18" charset="0"/>
              </a:rPr>
              <a:t> = 0.79</a:t>
            </a:r>
            <a:br>
              <a:rPr lang="en-GB" sz="2000" b="0" dirty="0">
                <a:latin typeface="Times New Roman" panose="02020603050405020304" pitchFamily="18" charset="0"/>
                <a:cs typeface="Times New Roman" panose="02020603050405020304" pitchFamily="18" charset="0"/>
              </a:rPr>
            </a:br>
            <a:r>
              <a:rPr lang="en-GB" sz="2000" b="0" i="1" dirty="0">
                <a:latin typeface="Times New Roman" panose="02020603050405020304" pitchFamily="18" charset="0"/>
                <a:cs typeface="Times New Roman" panose="02020603050405020304" pitchFamily="18" charset="0"/>
              </a:rPr>
              <a:t>p-value</a:t>
            </a:r>
            <a:r>
              <a:rPr lang="en-GB" sz="2000" b="0" dirty="0">
                <a:latin typeface="Times New Roman" panose="02020603050405020304" pitchFamily="18" charset="0"/>
                <a:cs typeface="Times New Roman" panose="02020603050405020304" pitchFamily="18" charset="0"/>
              </a:rPr>
              <a:t> &lt; 2.2e-16</a:t>
            </a:r>
            <a:br>
              <a:rPr lang="en-GB" sz="2000" b="0" dirty="0">
                <a:latin typeface="Times New Roman" panose="02020603050405020304" pitchFamily="18" charset="0"/>
                <a:cs typeface="Times New Roman" panose="02020603050405020304" pitchFamily="18" charset="0"/>
              </a:rPr>
            </a:br>
            <a:r>
              <a:rPr lang="en-GB" sz="2000" b="0" i="1" dirty="0">
                <a:latin typeface="Times New Roman" panose="02020603050405020304" pitchFamily="18" charset="0"/>
                <a:cs typeface="Times New Roman" panose="02020603050405020304" pitchFamily="18" charset="0"/>
              </a:rPr>
              <a:t>n</a:t>
            </a:r>
            <a:r>
              <a:rPr lang="en-GB" sz="2000" b="0" dirty="0">
                <a:latin typeface="Times New Roman" panose="02020603050405020304" pitchFamily="18" charset="0"/>
                <a:cs typeface="Times New Roman" panose="02020603050405020304" pitchFamily="18" charset="0"/>
              </a:rPr>
              <a:t> = 157 countries</a:t>
            </a:r>
            <a:br>
              <a:rPr lang="en-GB" sz="1200" dirty="0">
                <a:latin typeface="Times New Roman" panose="02020603050405020304" pitchFamily="18" charset="0"/>
                <a:cs typeface="Times New Roman" panose="02020603050405020304" pitchFamily="18" charset="0"/>
              </a:rPr>
            </a:br>
            <a:r>
              <a:rPr lang="en-GB" sz="2200" u="sng" dirty="0">
                <a:latin typeface="Times New Roman" panose="02020603050405020304" pitchFamily="18" charset="0"/>
                <a:cs typeface="Times New Roman" panose="02020603050405020304" pitchFamily="18" charset="0"/>
              </a:rPr>
              <a:t>Final Conclusion :</a:t>
            </a:r>
            <a:br>
              <a:rPr lang="en-GB" sz="2200" b="0" u="sng"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B436ED9-9785-45C7-A031-0BCCAF2AB584}"/>
              </a:ext>
            </a:extLst>
          </p:cNvPr>
          <p:cNvSpPr txBox="1"/>
          <p:nvPr/>
        </p:nvSpPr>
        <p:spPr>
          <a:xfrm>
            <a:off x="741598" y="3246120"/>
            <a:ext cx="10962722" cy="1477328"/>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The Pearson correlation test showed a strong positive relationship between Happiness Score and Economy (GDP per Capita) (r = 0.79). The p-value (&lt; 2.2e-16) is significantly below the 0.05 threshold, so we reject the null hypothesis. This confirms that countries with higher GDP per capita tend to have higher happiness scores.</a:t>
            </a:r>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592644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CB796C-048F-FCAC-A158-FDB6D71FD11B}"/>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4FFEE17A-4AC2-B432-1779-D041F4AA22C7}"/>
              </a:ext>
            </a:extLst>
          </p:cNvPr>
          <p:cNvSpPr>
            <a:spLocks noGrp="1"/>
          </p:cNvSpPr>
          <p:nvPr>
            <p:ph type="sldNum" sz="quarter" idx="12"/>
          </p:nvPr>
        </p:nvSpPr>
        <p:spPr/>
        <p:txBody>
          <a:bodyPr/>
          <a:lstStyle/>
          <a:p>
            <a:fld id="{E4D355CA-84B7-41B1-B164-8BB439CC7C6B}" type="slidenum">
              <a:rPr lang="en-GB" smtClean="0"/>
              <a:pPr/>
              <a:t>7</a:t>
            </a:fld>
            <a:endParaRPr lang="en-GB"/>
          </a:p>
        </p:txBody>
      </p:sp>
      <p:sp>
        <p:nvSpPr>
          <p:cNvPr id="9" name="TextBox 8">
            <a:extLst>
              <a:ext uri="{FF2B5EF4-FFF2-40B4-BE49-F238E27FC236}">
                <a16:creationId xmlns:a16="http://schemas.microsoft.com/office/drawing/2014/main" id="{6D670FE0-2AA4-66DA-F27C-C77E4E379B4D}"/>
              </a:ext>
            </a:extLst>
          </p:cNvPr>
          <p:cNvSpPr txBox="1"/>
          <p:nvPr/>
        </p:nvSpPr>
        <p:spPr>
          <a:xfrm>
            <a:off x="3202686" y="2558534"/>
            <a:ext cx="6094476" cy="1200329"/>
          </a:xfrm>
          <a:prstGeom prst="rect">
            <a:avLst/>
          </a:prstGeom>
          <a:noFill/>
        </p:spPr>
        <p:txBody>
          <a:bodyPr wrap="square">
            <a:spAutoFit/>
          </a:bodyPr>
          <a:lstStyle/>
          <a:p>
            <a:pPr algn="ctr"/>
            <a:r>
              <a:rPr lang="en-GB" sz="72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Thank </a:t>
            </a:r>
            <a:r>
              <a:rPr lang="en-GB" sz="7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You</a:t>
            </a:r>
            <a:endParaRPr lang="en-IN" sz="7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314040529"/>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43</TotalTime>
  <Words>820</Words>
  <Application>Microsoft Office PowerPoint</Application>
  <PresentationFormat>Widescreen</PresentationFormat>
  <Paragraphs>40</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Herts Theme</vt:lpstr>
      <vt:lpstr>Research Question –  Tutorial Presentation for Feedback Date: 19 – 11 – 2025  </vt:lpstr>
      <vt:lpstr>The columns/variable names you include in your research question. Happiness Score and Economy (GDP per Capita) At least 5 rows of the data :     Tell us how many rows your dataset has. The dataset contains 157 rows (countries).  </vt:lpstr>
      <vt:lpstr>This dataset is interesting to us because : This dataset is interesting to us because it allows us to compare how economic conditions relate to people’s overall happiness across different countries.  Our  Independent variable is: Economy (GDP per Capita)  This  Independent variable datatype is : Interval/measurement data (Reason: It is a numerical, continuous variable measured on a meaningful scale.)  Our Dependent variable is: Happiness Score  This Dependent variable datatype is  : Interval/measurement data (Reason: Happiness Score is a numerical, continuous value.)</vt:lpstr>
      <vt:lpstr>Template 1: Interval/Ordinal vs Interval/Ordinal: “Is there a correlation between “Happiness Score” and “Economy (GDP per Capita)” ?  “This study investigates whether there is a correlation between Happiness Score and Economy (GDP per Capita) across countries in the 2016 World Happiness dataset. By examining this relationship, we aim to understand whether higher economic prosperity is associated with higher levels of national happiness.”   </vt:lpstr>
      <vt:lpstr>PowerPoint Presentation</vt:lpstr>
      <vt:lpstr>Pearson correlation test results: r = 0.79 p-value &lt; 2.2e-16 n = 157 countries Final Conclusion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GLADSON DCOSTA</cp:lastModifiedBy>
  <cp:revision>117</cp:revision>
  <dcterms:created xsi:type="dcterms:W3CDTF">2019-10-01T08:37:56Z</dcterms:created>
  <dcterms:modified xsi:type="dcterms:W3CDTF">2025-11-18T13:19:06Z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